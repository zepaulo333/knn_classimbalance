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Bom dia. Somos o Grupo 2 de Machine Learning I e vamos apresentar o KNNFairRank — uma correcção ao KNN para problemas de class imbalance, derivada de order statistics de processos de Poisson e validada num benchmark de 49 datasets sob o protocolo de Demšar 2006.</a:t>
            </a:r>
          </a:p>
          <a:p/>
          <a:p>
            <a:r>
              <a:t>A apresentação tem 12 minutos. Começamos pelo executive summary.</a:t>
            </a:r>
          </a:p>
          <a:p/>
          <a:p>
            <a:r>
              <a:t>[≈25s]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30 segundos: o problema é que o KNN clássico falha sob class imbalance por um enviesamento estrutural — não por escolha de k. A nossa proposta corrige isso usando uma comparação de rank derivada de Poisson. Validámos em 49 datasets com a battery completa de Demšar. E os resultados batem estatisticamente o KNNOptK e o SMOTE com effect sizes grandes.</a:t>
            </a:r>
          </a:p>
          <a:p/>
          <a:p>
            <a:r>
              <a:t>[≈40s. Cada quadrante vai ser retomado em profundidade nas próximas slides — esta é apenas a vista global.]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Recordemos o KNN. Para classificar uma query, vamos buscar os k vizinhos mais próximos e votamos por maioria. Não há treino: o algoritmo só memoriza X e y.</a:t>
            </a:r>
          </a:p>
          <a:p/>
          <a:p>
            <a:r>
              <a:t>Pontos fortes à direita: é não-paramétrico, interpretável e simples. Pontos fracos: lazy, sensível à escala — e estruturalmente enviesado sob class imbalance, que é exactamente onde o nosso trabalho actua.</a:t>
            </a:r>
          </a:p>
          <a:p/>
          <a:p>
            <a:r>
              <a:t>[≈35s. Transição: já a seguir vamos ver porquê o enviesamento é estrutural e não-removível por escolha de k.]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está o problema. Mesmo com distribuições idênticas, mais pontos de uma classe que da outra cria um enviesamento na distância esperada.</a:t>
            </a:r>
          </a:p>
          <a:p/>
          <a:p>
            <a:r>
              <a:t>Sob Poisson homogéneo, E[d_k^c] escala com (k/λ_c)^(1/d). A razão cross-class no rank 1 é r^(1/d) — onde r é N_maj/N_min. A classe maioritária está sempre mais próxima, por amostragem.</a:t>
            </a:r>
          </a:p>
          <a:p/>
          <a:p>
            <a:r>
              <a:t>Pontos importantes a sublinhar: a dimensão d aparece no expoente; e o enviesamento NÃO se resolve mudando k, porque qualquer k afecta as duas classes do mesmo modo.</a:t>
            </a:r>
          </a:p>
          <a:p/>
          <a:p>
            <a:r>
              <a:t>[≈50s. Transição: e se invertermos esta equação para derivar a correcção?]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está a contribuição. Se E[d_k^c] depende de (k/λ_c)^(1/d), podemos encontrar um k_eff tal que E[d_{k_eff}^maj] = E[d_1^min]. Resolvendo a igualdade e elevando ambos os lados à potência d, a dimensão CANCELA. Ficamos com k_eff = r.</a:t>
            </a:r>
          </a:p>
          <a:p/>
          <a:p>
            <a:r>
              <a:t>Três propriedades a sublinhar: é dimension-free — não precisamos de saber d; é fechado em forma; e é interpretável — r é uma grandeza directa do dataset.</a:t>
            </a:r>
          </a:p>
          <a:p/>
          <a:p>
            <a:r>
              <a:t>[≈45s. Transição: vejamos a comparação com o KNN clássico.]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Comparação directa. Standard KNN à esquerda — pega no d_1 minority e no d_1 majority. FairRank à direita — pega no d_1 minority e no d_r majority.</a:t>
            </a:r>
          </a:p>
          <a:p/>
          <a:p>
            <a:r>
              <a:t>Sobre essa base desenvolvemos uma família de 5 variantes. O core tem k_eff = r exacto. O CV ajusta α em k_eff = r^α via inner CV — vamos ver porquê na slide do Poisson empírico. O JointCV tuna α e n_votes em conjunto. O Ensemble varre o grid completo sem CV. E o Jackknife usa LOO sobre os minority ranks para reduzir variância.</a:t>
            </a:r>
          </a:p>
          <a:p/>
          <a:p>
            <a:r>
              <a:t>[≈45s. Transição: vejamos o setup experimental.]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 em cinco linhas. 49 datasets binários, dos quais 40 entram na análise principal. 50 splits por par (algoritmo, dataset). Inner 3-fold para tuning de α e n_votes. Cinco métricas — threshold-based e ranking-based. E uma battery estatística completa de Demšar.</a:t>
            </a:r>
          </a:p>
          <a:p/>
          <a:p>
            <a:r>
              <a:t>Tudo seedado com 42 em settings.yaml; resultados lidos de benchmark_5rep.csv, totalmente reproduzível.</a:t>
            </a:r>
          </a:p>
          <a:p/>
          <a:p>
            <a:r>
              <a:t>[≈35s. Transição: antes dos resultados, mostramos como escolhemos estes 10 algoritmos.]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da benchmark completa fizemos screening de 1-rep com 27 algoritmos. As barras azuis são os 10 retidos; as cinzentas os 17 descartados.</a:t>
            </a:r>
          </a:p>
          <a:p/>
          <a:p>
            <a:r>
              <a:t>Cada um dos 17 cai numa de quatro famílias conceptuais: paradigma errado, redundância com α-CV, density estimation ruidosa, ou dominância estrita. Detalhe no slide de anexo.</a:t>
            </a:r>
          </a:p>
          <a:p/>
          <a:p>
            <a:r>
              <a:t>[≈30s. Transição: agora aos resultados.]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Tabela master compacta: G-Mean para decisão hard, ROC-AUC para ranking, MCC como referência clássica.</a:t>
            </a:r>
          </a:p>
          <a:p/>
          <a:p>
            <a:r>
              <a:t>A célula destacada a azul escuro no canto superior é o KNNFairRankJointCV em G-Mean — média 0.80 contra 0.67 do KNNOptK. A célula destacada na segunda linha é o KNNFairRankEnsemble em ROC-AUC — 0.878 contra 0.84 do SMOTE+KNN.</a:t>
            </a:r>
          </a:p>
          <a:p/>
          <a:p>
            <a:r>
              <a:t>Não há um único vencedor — voltaremos a este trade-off nas conclusões.</a:t>
            </a:r>
          </a:p>
          <a:p/>
          <a:p>
            <a:r>
              <a:t>[≈40s. Transição: vamos olhar para o G-Mean isoladamente.]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G-Mean isolado. Em cima o KNNFairRankJointCV com 0.80; em baixo o KNNOptK com 0.67. Diferença de 0.13 — grande para esta métrica.</a:t>
            </a:r>
          </a:p>
          <a:p/>
          <a:p>
            <a:r>
              <a:t>À direita o efeito quantificado: Cohen's d pareado de +0.88 — large effect pelo critério de Cohen. Wilcoxon-Holm corrigido a 9 comparações dá p &lt; 10⁻⁴, e o bootstrap CI da diferença não cruza zero.</a:t>
            </a:r>
          </a:p>
          <a:p/>
          <a:p>
            <a:r>
              <a:t>[≈40s. Transição: e ao longo do espectro de imbalance?]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Pergunta natural: 'a vantagem do FairRank vem só dos datasets extremos, ou aparece em todo o espectro?'.</a:t>
            </a:r>
          </a:p>
          <a:p/>
          <a:p>
            <a:r>
              <a:t>Dividimos os 40 datasets em quartis por IR. A linha tracejada cinzenta é o KNNOptK. As linhas a cores são os FairRank. Em TODOS os quartis — incluindo Q1 com IR baixo — o FairRank fica acima do baseline.</a:t>
            </a:r>
          </a:p>
          <a:p/>
          <a:p>
            <a:r>
              <a:t>Kendall τ entre wins e log-IR: -0.08, p = 0.54. NÃO há tendência monótona, mas o win rate é 85%. Universal dominance — não condicional a IR.</a:t>
            </a:r>
          </a:p>
          <a:p/>
          <a:p>
            <a:r>
              <a:t>[≈45s. Transição: validação estatística formal.]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Validação estatística completa, protocolo de Demšar 2006.</a:t>
            </a:r>
          </a:p>
          <a:p/>
          <a:p>
            <a:r>
              <a:t>Primeiro Friedman global: rejeitamos a nula 'todos iguais' com p &lt; 10⁻¹² em todas as 5 métricas. Depois post-hoc Wilcoxon signed-rank pareado com correcção Holm, contra dois baselines.</a:t>
            </a:r>
          </a:p>
          <a:p/>
          <a:p>
            <a:r>
              <a:t>Linha 1: JointCV vs KNNOptK em G-Mean — p_holm &lt; 10⁻⁴, d = +0.88, large effect. Linha 2: Ensemble vs SMOTE+KNN em ROC-AUC — p_holm &lt; 10⁻⁴, d = +0.56, medium-large.</a:t>
            </a:r>
          </a:p>
          <a:p/>
          <a:p>
            <a:r>
              <a:t>[≈40s. Transição: a teoria que motiva a correcção — testámo-la empiricamente?]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Testámos empiricamente a assunção Poisson que motiva o algoritmo. Para cada dataset, comparámos a razão empírica d_1^min / d_1^maj com o teórico r^(1/d).</a:t>
            </a:r>
          </a:p>
          <a:p/>
          <a:p>
            <a:r>
              <a:t>No scatter log-log à direita, 37 dos 40 datasets caem ACIMA da linha de acordo perfeito. As minorities estão MAIS clusterizadas que um Poisson homogéneo previa.</a:t>
            </a:r>
          </a:p>
          <a:p/>
          <a:p>
            <a:r>
              <a:t>Isto não invalida a derivação — motiva o expoente α &lt; 1 que o KNNFairRankCV introduz: se a violação é para mais clustering, amorteça-se a correcção.</a:t>
            </a:r>
          </a:p>
          <a:p/>
          <a:p>
            <a:r>
              <a:t>[≈50s. Transição: e isto prediz a vantagem do FairRank?]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é a slide mais importante. A teoria faz uma predição falsificável: o FairRank deve ajudar mais onde o KNN é mais enviesado — minorities na fronteira de decisão.</a:t>
            </a:r>
          </a:p>
          <a:p/>
          <a:p>
            <a:r>
              <a:t>Computámos duas meta-features estruturais: borderline_fraction (fracção de minorities cujo nearest neighbour é majority) e minority_nbr_purity (pureza dos 10-NN dos minorities). Correlacionámos com Δ G-Mean do JointCV via Spearman.</a:t>
            </a:r>
          </a:p>
          <a:p/>
          <a:p>
            <a:r>
              <a:t>Resultados à direita: ρ = +0.77 e ρ = -0.76, ambos p &lt; 10⁻⁴. As DUAS direcções coincidem com o que a teoria prediz. Direct theory-data link.</a:t>
            </a:r>
          </a:p>
          <a:p/>
          <a:p>
            <a:r>
              <a:t>[≈55s. Transição: discussão e conclusões.]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Achado interessante antes de concluir. Não há um único algoritmo vencedor — o trade-off cinde-se por tipo de métrica.</a:t>
            </a:r>
          </a:p>
          <a:p/>
          <a:p>
            <a:r>
              <a:t>À esquerda, threshold metrics: JointCV vence — escolhe um par óptimo (α, n_votes) via inner CV, dando decisões crisp. À direita, ranking metrics: Ensemble vence — faz média sobre o α-grid, dando probabilidades suaves que ranqueiam melhor.</a:t>
            </a:r>
          </a:p>
          <a:p/>
          <a:p>
            <a:r>
              <a:t>O trade-off é matematicamente coerente: tarefas diferentes (0-1 vs AUC) têm losses diferentes, e é esperado que predictores distintos sejam óptimos para cada uma.</a:t>
            </a:r>
          </a:p>
          <a:p/>
          <a:p>
            <a:r>
              <a:t>[≈40s. Transição: conclusões.]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fechar.</a:t>
            </a:r>
          </a:p>
          <a:p/>
          <a:p>
            <a:r>
              <a:t>Contribuições: uma correcção ao KNN derivada de princípios — não heurística; validação rigorosa em 49 datasets sob Demšar; e um direct theory-data link com ρ = +0.77.</a:t>
            </a:r>
          </a:p>
          <a:p/>
          <a:p>
            <a:r>
              <a:t>Limitações: a assunção Poisson é violada em ~95% dos datasets, tratada via α &lt; 1 mas extreme clustering ainda é difícil; o k_maj_cap satura em 1 dos 40 datasets; e o multi-vote scheme ainda não tem justificação formal completa.</a:t>
            </a:r>
          </a:p>
          <a:p/>
          <a:p>
            <a:r>
              <a:t>Future work: extensão Neyman-Scott para clustered minorities, generalização multi-class, e comparação directa com DANN.</a:t>
            </a:r>
          </a:p>
          <a:p/>
          <a:p>
            <a:r>
              <a:t>Obrigado. Estamos disponíveis para questões.</a:t>
            </a:r>
          </a:p>
          <a:p/>
          <a:p>
            <a:r>
              <a:t>[≈60s. FIM da apresentação principal — total ~10:30 minutos, deixa ~1:30 de buffer para Q&amp;A.]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divisor de anexos. Mostrar apenas se houver perguntas técnicas no Q&amp;A.]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Rank-convergence diagnostic: para cada n ∈ {5, 10, ..., 50} splits acumulados recalculámos os ranks médios. Para os campeões (JointCV, Ensemble), |Δrank| entre n=40 e n=50 é ≤ 0.075 — ordem de grandeza abaixo dos rank gaps típicos. 50 splits são suficientes.</a:t>
            </a:r>
          </a:p>
          <a:p/>
          <a:p>
            <a:r>
              <a:t>Q&amp;A típico: 'porque 50 e não 100?' — porque a partir de 35 splits os ranks dos campeões já estão dentro de 0.1 da posição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ISA PCA projection — 40 datasets em 2D via PCA sobre 6 meta-features. PC1 e PC2 explicam ~70% da variância. Tamanho ∝ severidade do imbalance.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footprints — para cada métrica, marcamos no instance space qual algoritmo vence cada dataset. JointCV domina G-Mean / MCC; Ensemble domina ROC-AUC / PR-AUC.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test ao longo do eixo IR — wins por quartil. JointCV mantém ≥20% de wins em todos os quartis e cresce em Q4.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Nove datasets com N_min &lt; 20 foram separados da análise principal (stratified CV produz folds com 0 minorities). Em 2 destes, SMOTE colapsa para G-Mean = 0 — interpolation produz amostras sintéticas fora da minority region. FairRank baseado em counting mantém-se definido independentemente de N_min.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k_maj_cap saturation: o KNNFairRank tem um cap de 1000 majority neighbours. Apenas 1 dos 40 datasets satura — dataset_1056_mc1 com IR=138. Para os outros 39, k_eff = r é exercido na íntegra.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Transparência sobre o poder estatístico. Wilcoxon descarta diferenças exactamente zero; reportamos o N efectivo por par. N_eff entre 38-39 sobre 40 — efeito pequeno, mas declarado explicitamente.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Complexidade computacional e runtime empírico. O JointCV é dominante no orçamento (84 min/dataset com 8 cores), seguido do OptVotes. Total ~2.5 horas no Apple M1 para a benchmark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Detalhe dos 4 grupos eliminados no screening. Cada grupo tem motivação distinta e nenhum cobre um mecanismo de correcção que não esteja já presente nos 10 retidos.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Tabela Cohen's d completa contra cada baseline em cada métrica. Células a azul escuro: |d| ≥ 0.8 (large). Células a azul claro: |d| ≥ 0.5 (medium).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reprodutibilidade: o repositório tem múltiplos notebooks. O entrega_final.ipynb é o deliverable principal; meta_analysis.ipynb tem a pipeline ISA; phase2_benchmark.ipynb gera o benchmark_5rep.csv.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Referências principais.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Encerramento. Obrigado pela atenção. Questões.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UNIVERSIDADE DO PORTO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7F0FA"/>
                </a:solidFill>
                <a:latin typeface="Calibri"/>
              </a:rPr>
              <a:t>Faculdade de Ciências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206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Machine Learning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406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7F0FA"/>
                </a:solidFill>
                <a:latin typeface="Calibri"/>
              </a:rPr>
              <a:t>CC2008  ·  2025/2026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150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7F0FA"/>
                </a:solidFill>
                <a:latin typeface="Calibri"/>
              </a:rPr>
              <a:t>Dataset Group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E7F0FA"/>
                </a:solidFill>
                <a:latin typeface="Calibri"/>
              </a:rPr>
              <a:t>Binary classification under class imbalance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371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PRACTICAL ASSIGNMENT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9164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212939"/>
                </a:solidFill>
                <a:latin typeface="Calibri"/>
              </a:rPr>
              <a:t>KNN Variants for</a:t>
            </a:r>
          </a:p>
          <a:p>
            <a:pPr algn="l"/>
            <a:r>
              <a:rPr sz="4400" b="1" i="0">
                <a:solidFill>
                  <a:srgbClr val="212939"/>
                </a:solidFill>
                <a:latin typeface="Calibri"/>
              </a:rPr>
              <a:t>Class Imbalance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3756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003D7A"/>
                </a:solidFill>
                <a:latin typeface="Calibri"/>
              </a:rPr>
              <a:t>A Rank-Correction Approach Derived from</a:t>
            </a:r>
          </a:p>
          <a:p>
            <a:pPr algn="l"/>
            <a:r>
              <a:rPr sz="2000" b="0" i="1">
                <a:solidFill>
                  <a:srgbClr val="003D7A"/>
                </a:solidFill>
                <a:latin typeface="Calibri"/>
              </a:rPr>
              <a:t>Poisson Order Statistics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5262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C757D"/>
                </a:solidFill>
                <a:latin typeface="Calibri"/>
              </a:rPr>
              <a:t>AUTHORS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4800600"/>
            <a:ext cx="1371600" cy="18288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9834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12939"/>
                </a:solidFill>
                <a:latin typeface="Calibri"/>
              </a:rPr>
              <a:t>Duarte Gomes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983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6C757D"/>
                </a:solidFill>
                <a:latin typeface="Calibri"/>
              </a:rPr>
              <a:t>up202409386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3949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12939"/>
                </a:solidFill>
                <a:latin typeface="Calibri"/>
              </a:rPr>
              <a:t>José Sousa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53949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6C757D"/>
                </a:solidFill>
                <a:latin typeface="Calibri"/>
              </a:rPr>
              <a:t>up202405046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806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12939"/>
                </a:solidFill>
                <a:latin typeface="Calibri"/>
              </a:rPr>
              <a:t>Tiago Sousa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5806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6C757D"/>
                </a:solidFill>
                <a:latin typeface="Calibri"/>
              </a:rPr>
              <a:t>up202405406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39"/>
                </a:solidFill>
                <a:latin typeface="Calibri"/>
              </a:rPr>
              <a:t>The project in four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2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Calibri"/>
              </a:rPr>
              <a:t>KNNFairRank  ·  Machine Learning I  ·  CC2008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5394960" cy="23317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73152" cy="2331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12939"/>
                </a:solidFill>
                <a:latin typeface="Calibri"/>
              </a:rPr>
              <a:t>Structural bias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C757D"/>
                </a:solidFill>
                <a:latin typeface="Calibri"/>
              </a:rPr>
              <a:t>KNN compares  d₁ᵐⁱⁿ  to  d₁ᵐᵃʲ  — biased by sampling alone.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5394960" cy="23317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73152" cy="233172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7556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D6EFD"/>
                </a:solidFill>
                <a:latin typeface="Calibri"/>
              </a:rPr>
              <a:t>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9456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12939"/>
                </a:solidFill>
                <a:latin typeface="Calibri"/>
              </a:rPr>
              <a:t>Fair rank: kₑff = 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2461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C757D"/>
                </a:solidFill>
                <a:latin typeface="Calibri"/>
              </a:rPr>
              <a:t>Compare  d₁ᵐⁱⁿ  to  d_rᵐᵃʲ — dimension cancels in the derivation.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23360"/>
            <a:ext cx="5394960" cy="23317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023360"/>
            <a:ext cx="73152" cy="233172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2452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12939"/>
                </a:solidFill>
                <a:latin typeface="Calibri"/>
              </a:rPr>
              <a:t>Demšar 2006 protocol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150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C757D"/>
                </a:solidFill>
                <a:latin typeface="Calibri"/>
              </a:rPr>
              <a:t>10 algorithms × 49 datasets × 50 splits  +  Instance Space Analysis.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023360"/>
            <a:ext cx="5394960" cy="23317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4023360"/>
            <a:ext cx="73152" cy="2331720"/>
          </a:xfrm>
          <a:prstGeom prst="rect">
            <a:avLst/>
          </a:prstGeom>
          <a:solidFill>
            <a:srgbClr val="108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22452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824D"/>
                </a:solidFill>
                <a:latin typeface="Calibri"/>
              </a:rPr>
              <a:t>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66344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12939"/>
                </a:solidFill>
                <a:latin typeface="Calibri"/>
              </a:rPr>
              <a:t>Statistically  +  practically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7150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C757D"/>
                </a:solidFill>
                <a:latin typeface="Calibri"/>
              </a:rPr>
              <a:t>Beats KNNOptK (d = +0.88) and SMOTE (d = +0.56); ρ = +0.77 theory↔data.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BASE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39"/>
                </a:solidFill>
                <a:latin typeface="Calibri"/>
              </a:rPr>
              <a:t>How KNN decides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3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Calibri"/>
              </a:rPr>
              <a:t>KNNFairRank  ·  Machine Learning I  ·  CC2008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029200" cy="42976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8487" y="1892808"/>
            <a:ext cx="237744" cy="237744"/>
          </a:xfrm>
          <a:prstGeom prst="ellipse">
            <a:avLst/>
          </a:prstGeom>
          <a:solidFill>
            <a:srgbClr val="0D6EF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75687" y="2350008"/>
            <a:ext cx="237744" cy="237744"/>
          </a:xfrm>
          <a:prstGeom prst="ellipse">
            <a:avLst/>
          </a:prstGeom>
          <a:solidFill>
            <a:srgbClr val="0D6EF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15768" y="2075687"/>
            <a:ext cx="237744" cy="237744"/>
          </a:xfrm>
          <a:prstGeom prst="ellipse">
            <a:avLst/>
          </a:prstGeom>
          <a:solidFill>
            <a:srgbClr val="0D6EF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55848" y="2532887"/>
            <a:ext cx="237744" cy="237744"/>
          </a:xfrm>
          <a:prstGeom prst="ellipse">
            <a:avLst/>
          </a:prstGeom>
          <a:solidFill>
            <a:srgbClr val="0D6EF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78808" y="1892808"/>
            <a:ext cx="237744" cy="237744"/>
          </a:xfrm>
          <a:prstGeom prst="ellipse">
            <a:avLst/>
          </a:prstGeom>
          <a:solidFill>
            <a:srgbClr val="0D6EF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36008" y="2715768"/>
            <a:ext cx="237744" cy="237744"/>
          </a:xfrm>
          <a:prstGeom prst="ellipse">
            <a:avLst/>
          </a:prstGeom>
          <a:solidFill>
            <a:srgbClr val="0D6EF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995928" y="3630168"/>
            <a:ext cx="237744" cy="237744"/>
          </a:xfrm>
          <a:prstGeom prst="ellipse">
            <a:avLst/>
          </a:prstGeom>
          <a:solidFill>
            <a:srgbClr val="0D6EF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18888" y="3995928"/>
            <a:ext cx="237744" cy="237744"/>
          </a:xfrm>
          <a:prstGeom prst="ellipse">
            <a:avLst/>
          </a:prstGeom>
          <a:solidFill>
            <a:srgbClr val="0D6EF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27048" y="3904488"/>
            <a:ext cx="237744" cy="237744"/>
          </a:xfrm>
          <a:prstGeom prst="ellipse">
            <a:avLst/>
          </a:prstGeom>
          <a:solidFill>
            <a:srgbClr val="0D6EF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9848" y="2807208"/>
            <a:ext cx="237744" cy="237744"/>
          </a:xfrm>
          <a:prstGeom prst="ellipse">
            <a:avLst/>
          </a:prstGeom>
          <a:solidFill>
            <a:srgbClr val="0D6EF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52728" y="4361688"/>
            <a:ext cx="237744" cy="237744"/>
          </a:xfrm>
          <a:prstGeom prst="ellipse">
            <a:avLst/>
          </a:prstGeom>
          <a:solidFill>
            <a:srgbClr val="0D6EF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258568" y="4727448"/>
            <a:ext cx="237744" cy="237744"/>
          </a:xfrm>
          <a:prstGeom prst="ellipse">
            <a:avLst/>
          </a:prstGeom>
          <a:solidFill>
            <a:srgbClr val="0D6EF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264408" y="4818888"/>
            <a:ext cx="237744" cy="237744"/>
          </a:xfrm>
          <a:prstGeom prst="ellipse">
            <a:avLst/>
          </a:prstGeom>
          <a:solidFill>
            <a:srgbClr val="0D6EF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4727448"/>
            <a:ext cx="237744" cy="237744"/>
          </a:xfrm>
          <a:prstGeom prst="ellipse">
            <a:avLst/>
          </a:prstGeom>
          <a:solidFill>
            <a:srgbClr val="0D6EF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98648" y="3264408"/>
            <a:ext cx="237744" cy="237744"/>
          </a:xfrm>
          <a:prstGeom prst="ellipse">
            <a:avLst/>
          </a:prstGeom>
          <a:solidFill>
            <a:srgbClr val="0D6EF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23744" y="2980944"/>
            <a:ext cx="256032" cy="256032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72383" y="2889504"/>
            <a:ext cx="256032" cy="256032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798064" y="3621023"/>
            <a:ext cx="256032" cy="256032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743200" y="3200400"/>
            <a:ext cx="365760" cy="365760"/>
          </a:xfrm>
          <a:prstGeom prst="ellipse">
            <a:avLst/>
          </a:prstGeom>
          <a:solidFill>
            <a:srgbClr val="003D7A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828800" y="2286000"/>
            <a:ext cx="2194560" cy="2194560"/>
          </a:xfrm>
          <a:prstGeom prst="ellipse">
            <a:avLst/>
          </a:prstGeom>
          <a:noFill/>
          <a:ln w="25400">
            <a:solidFill>
              <a:srgbClr val="003D7A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25780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03D7A"/>
                </a:solidFill>
                <a:latin typeface="Calibri"/>
              </a:rPr>
              <a:t>Query  +  k nearest neighbours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50468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C757D"/>
                </a:solidFill>
                <a:latin typeface="Calibri"/>
              </a:rPr>
              <a:t>Majority vote → predicted class</a:t>
            </a:r>
          </a:p>
        </p:txBody>
      </p:sp>
      <p:sp>
        <p:nvSpPr>
          <p:cNvPr id="29" name="Oval 28"/>
          <p:cNvSpPr/>
          <p:nvPr/>
        </p:nvSpPr>
        <p:spPr>
          <a:xfrm>
            <a:off x="868680" y="1737360"/>
            <a:ext cx="164592" cy="164592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170078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majority</a:t>
            </a:r>
          </a:p>
        </p:txBody>
      </p:sp>
      <p:sp>
        <p:nvSpPr>
          <p:cNvPr id="31" name="Oval 30"/>
          <p:cNvSpPr/>
          <p:nvPr/>
        </p:nvSpPr>
        <p:spPr>
          <a:xfrm>
            <a:off x="2194560" y="1737360"/>
            <a:ext cx="164592" cy="164592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23160" y="170078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minority</a:t>
            </a:r>
          </a:p>
        </p:txBody>
      </p:sp>
      <p:sp>
        <p:nvSpPr>
          <p:cNvPr id="33" name="Oval 32"/>
          <p:cNvSpPr/>
          <p:nvPr/>
        </p:nvSpPr>
        <p:spPr>
          <a:xfrm>
            <a:off x="3566160" y="1737360"/>
            <a:ext cx="164592" cy="164592"/>
          </a:xfrm>
          <a:prstGeom prst="ellipse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94760" y="170078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query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1554480"/>
            <a:ext cx="5532120" cy="20116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1554480"/>
            <a:ext cx="73152" cy="2011680"/>
          </a:xfrm>
          <a:prstGeom prst="rect">
            <a:avLst/>
          </a:prstGeom>
          <a:solidFill>
            <a:srgbClr val="108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1691640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824D"/>
                </a:solidFill>
                <a:latin typeface="Calibri"/>
              </a:rPr>
              <a:t>STRENGTHS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1965960"/>
            <a:ext cx="5166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12939"/>
                </a:solidFill>
                <a:latin typeface="Calibri"/>
              </a:rPr>
              <a:t>Non-parametric — no distribution assumed</a:t>
            </a:r>
          </a:p>
          <a:p>
            <a:pPr algn="l"/>
            <a:r>
              <a:rPr sz="1400" b="0" i="0">
                <a:solidFill>
                  <a:srgbClr val="212939"/>
                </a:solidFill>
                <a:latin typeface="Calibri"/>
              </a:rPr>
              <a:t>Fully interpretable — see which neighbours voted</a:t>
            </a:r>
          </a:p>
          <a:p>
            <a:pPr algn="l"/>
            <a:r>
              <a:rPr sz="1400" b="0" i="0">
                <a:solidFill>
                  <a:srgbClr val="212939"/>
                </a:solidFill>
                <a:latin typeface="Calibri"/>
              </a:rPr>
              <a:t>No training phase — just stores X, 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794760"/>
            <a:ext cx="5532120" cy="20116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3794760"/>
            <a:ext cx="73152" cy="2011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3931920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LIMITATIONS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206240"/>
            <a:ext cx="5166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12939"/>
                </a:solidFill>
                <a:latin typeface="Calibri"/>
              </a:rPr>
              <a:t>Lazy — O(N) per query at inference</a:t>
            </a:r>
          </a:p>
          <a:p>
            <a:pPr algn="l"/>
            <a:r>
              <a:rPr sz="1400" b="0" i="0">
                <a:solidFill>
                  <a:srgbClr val="212939"/>
                </a:solidFill>
                <a:latin typeface="Calibri"/>
              </a:rPr>
              <a:t>Distance-sensitive — needs standardisation</a:t>
            </a:r>
          </a:p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Structurally biased under class imbalance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CLASS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39"/>
                </a:solidFill>
                <a:latin typeface="Calibri"/>
              </a:rPr>
              <a:t>The bias is structural, not k-related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4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Calibri"/>
              </a:rPr>
              <a:t>KNNFairRank  ·  Machine Learning I  ·  CC2008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5943600" cy="43891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14706" y="3774171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84079" y="3757465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42416" y="3906469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0783" y="3396650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76033" y="3732329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32526" y="3856561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71086" y="3543668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38256" y="3840576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54428" y="3722304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79973" y="3890562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631880" y="4125548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17568" y="3143008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234893" y="4144316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83927" y="3777143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63591" y="3423000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886926" y="4514867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5348" y="2781033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43170" y="3974022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55450" y="3556577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42653" y="4196041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94235" y="3808006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844002" y="3689368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107010" y="4083630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765185" y="4063553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056456" y="3587103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693778" y="3446188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890471" y="3977763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25161" y="2981785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038010" y="4249435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88008" y="4440118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6776" y="3563258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3798" y="3909955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76121" y="4420176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60679" y="3686960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755720" y="3676831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203635" y="3706566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594453" y="3553863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088166" y="3637546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749003" y="4422333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793964" y="3521946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172458" y="4076000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661879" y="3963680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463986" y="3865060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554675" y="3844386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921315" y="3957482"/>
            <a:ext cx="146304" cy="146304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549647" y="3770809"/>
            <a:ext cx="201168" cy="201168"/>
          </a:xfrm>
          <a:prstGeom prst="ellipse">
            <a:avLst/>
          </a:prstGeom>
          <a:solidFill>
            <a:srgbClr val="C0392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735412" y="3884805"/>
            <a:ext cx="201168" cy="201168"/>
          </a:xfrm>
          <a:prstGeom prst="ellipse">
            <a:avLst/>
          </a:prstGeom>
          <a:solidFill>
            <a:srgbClr val="C0392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982304" y="3486629"/>
            <a:ext cx="201168" cy="201168"/>
          </a:xfrm>
          <a:prstGeom prst="ellipse">
            <a:avLst/>
          </a:prstGeom>
          <a:solidFill>
            <a:srgbClr val="C0392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215121" y="3717944"/>
            <a:ext cx="201168" cy="201168"/>
          </a:xfrm>
          <a:prstGeom prst="ellipse">
            <a:avLst/>
          </a:prstGeom>
          <a:solidFill>
            <a:srgbClr val="C0392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598963" y="3842904"/>
            <a:ext cx="201168" cy="201168"/>
          </a:xfrm>
          <a:prstGeom prst="ellipse">
            <a:avLst/>
          </a:prstGeom>
          <a:solidFill>
            <a:srgbClr val="C0392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273678" y="3103506"/>
            <a:ext cx="201168" cy="201168"/>
          </a:xfrm>
          <a:prstGeom prst="ellipse">
            <a:avLst/>
          </a:prstGeom>
          <a:solidFill>
            <a:srgbClr val="C0392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127247" y="3675888"/>
            <a:ext cx="329184" cy="329184"/>
          </a:xfrm>
          <a:prstGeom prst="ellipse">
            <a:avLst/>
          </a:prstGeom>
          <a:solidFill>
            <a:srgbClr val="003D7A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H="1" flipV="1">
            <a:off x="2423160" y="3657600"/>
            <a:ext cx="868680" cy="182880"/>
          </a:xfrm>
          <a:prstGeom prst="line">
            <a:avLst/>
          </a:prstGeom>
          <a:ln w="38100">
            <a:solidFill>
              <a:srgbClr val="0D6E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291840" y="3566160"/>
            <a:ext cx="1143000" cy="274320"/>
          </a:xfrm>
          <a:prstGeom prst="line">
            <a:avLst/>
          </a:prstGeom>
          <a:ln w="381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2423160" y="306324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423160" y="306324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D6EFD"/>
                </a:solidFill>
                <a:latin typeface="Calibri"/>
              </a:rPr>
              <a:t>d₁ᵐᵃʲ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749040" y="297180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749040" y="297180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Calibri"/>
              </a:rPr>
              <a:t>d₁ᵐⁱⁿ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" y="1645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D6EFD"/>
                </a:solidFill>
                <a:latin typeface="Calibri"/>
              </a:rPr>
              <a:t>N_maj = 90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60520" y="1645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N_min = 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7240" y="562356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C757D"/>
                </a:solidFill>
                <a:latin typeface="Calibri"/>
              </a:rPr>
              <a:t>Same underlying density λ;  different N  →  d₁ᵐⁱⁿ farther by r^(1/d) on average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60" y="16002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Poisson order statistics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766560" y="1920240"/>
            <a:ext cx="5029200" cy="914400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66560" y="2194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03D7A"/>
                </a:solidFill>
                <a:latin typeface="Calibri"/>
              </a:rPr>
              <a:t>E[d_kᶜ]  ∝  (k / λ_c)^(1/d)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66560" y="25420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C757D"/>
                </a:solidFill>
                <a:latin typeface="Calibri"/>
              </a:rPr>
              <a:t>λ_c = local density of class c    ·    d = dimension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66560" y="31089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Apply at rank 1  →  cross-class ratio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66560" y="3429000"/>
            <a:ext cx="5029200" cy="914400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66560" y="3703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03D7A"/>
                </a:solidFill>
                <a:latin typeface="Calibri"/>
              </a:rPr>
              <a:t>E[d₁ᵐⁱⁿ] / E[d₁ᵐᵃʲ]  =  r^(1/d)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66560" y="4050791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C757D"/>
                </a:solidFill>
                <a:latin typeface="Calibri"/>
              </a:rPr>
              <a:t>r = N_maj / N_min    —    biased by sampling alone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66560" y="4663440"/>
            <a:ext cx="5029200" cy="109728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040880" y="484632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Tuning k cannot remove it.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40880" y="525780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E7F0FA"/>
                </a:solidFill>
                <a:latin typeface="Calibri"/>
              </a:rPr>
              <a:t>Every k affects both classes the same way — the bias survives.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PROPOSED MODIFICATION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39"/>
                </a:solidFill>
                <a:latin typeface="Calibri"/>
              </a:rPr>
              <a:t>Poisson-derived fair rank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5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Calibri"/>
              </a:rPr>
              <a:t>KNNFairRank  ·  Machine Learning I  ·  CC2008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108960" cy="21945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73152" cy="219456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①  POISSON SCALING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12939"/>
                </a:solidFill>
                <a:latin typeface="Calibri"/>
              </a:rPr>
              <a:t>E[d_kᶜ] ∝ (k / λc)^(1/d)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2044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C757D"/>
                </a:solidFill>
                <a:latin typeface="Calibri"/>
              </a:rPr>
              <a:t>Expected distance to the k-th</a:t>
            </a:r>
          </a:p>
          <a:p>
            <a:pPr algn="ctr"/>
            <a:r>
              <a:rPr sz="1100" b="0" i="1">
                <a:solidFill>
                  <a:srgbClr val="6C757D"/>
                </a:solidFill>
                <a:latin typeface="Calibri"/>
              </a:rPr>
              <a:t>nearest neighbour of class 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69080" y="2788920"/>
            <a:ext cx="457200" cy="457200"/>
          </a:xfrm>
          <a:prstGeom prst="rightArrow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920240"/>
            <a:ext cx="3108960" cy="21945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920240"/>
            <a:ext cx="73152" cy="219456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103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②  EQUATE EXPECTATIONS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51460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12939"/>
                </a:solidFill>
                <a:latin typeface="Calibri"/>
              </a:rPr>
              <a:t>E[d_{k_eff}ᵐᵃʲ] = E[d₁ᵐⁱⁿ]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52044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C757D"/>
                </a:solidFill>
                <a:latin typeface="Calibri"/>
              </a:rPr>
              <a:t>Find k_eff that makes the</a:t>
            </a:r>
          </a:p>
          <a:p>
            <a:pPr algn="ctr"/>
            <a:r>
              <a:rPr sz="1100" b="0" i="1">
                <a:solidFill>
                  <a:srgbClr val="6C757D"/>
                </a:solidFill>
                <a:latin typeface="Calibri"/>
              </a:rPr>
              <a:t>rank-1 comparison fair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001000" y="2788920"/>
            <a:ext cx="457200" cy="457200"/>
          </a:xfrm>
          <a:prstGeom prst="rightArrow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03920" y="1920240"/>
            <a:ext cx="3108960" cy="21945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03920" y="1920240"/>
            <a:ext cx="73152" cy="219456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2103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③  DIMENSION CANCELS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251460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12939"/>
                </a:solidFill>
                <a:latin typeface="Calibri"/>
              </a:rPr>
              <a:t>k_eff = r = N_maj / N_min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52044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C757D"/>
                </a:solidFill>
                <a:latin typeface="Calibri"/>
              </a:rPr>
              <a:t>No hyperparameter, no dimension</a:t>
            </a:r>
          </a:p>
          <a:p>
            <a:pPr algn="ctr"/>
            <a:r>
              <a:rPr sz="1100" b="0" i="1">
                <a:solidFill>
                  <a:srgbClr val="6C757D"/>
                </a:solidFill>
                <a:latin typeface="Calibri"/>
              </a:rPr>
              <a:t>estimation — closed form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572000"/>
            <a:ext cx="11155680" cy="132588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66344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Compare  d₁ᵐⁱⁿ   vs   d_rᵐᵃʲ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E7F0FA"/>
                </a:solidFill>
                <a:latin typeface="Calibri"/>
              </a:rPr>
              <a:t>Instead of  d₁ᵐⁱⁿ  vs  d₁ᵐᵃʲ   —   accounts for sampling-induced density imbalance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PROPOSED MODIFICATION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39"/>
                </a:solidFill>
                <a:latin typeface="Calibri"/>
              </a:rPr>
              <a:t>Standard vs FairRank  +  family of 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6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Calibri"/>
              </a:rPr>
              <a:t>KNNFairRank  ·  Machine Learning I  ·  CC2008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49240" cy="3200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349240" cy="50292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349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STANDARD KNN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C757D"/>
                </a:solidFill>
                <a:latin typeface="Calibri"/>
              </a:rPr>
              <a:t>Comparison 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697480"/>
            <a:ext cx="48006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4800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212939"/>
                </a:solidFill>
                <a:latin typeface="Calibri"/>
              </a:rPr>
              <a:t>d₁ᵐⁱⁿ   &lt;   d₁ᵐᵃʲ  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C757D"/>
                </a:solidFill>
                <a:latin typeface="Calibri"/>
              </a:rPr>
              <a:t>Both ranks fixed at 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69080"/>
            <a:ext cx="4800600" cy="640080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→  biased toward majority class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645920"/>
            <a:ext cx="5349240" cy="3200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645920"/>
            <a:ext cx="5349240" cy="50292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45920"/>
            <a:ext cx="5349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KNNFAIRRANK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377440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Comparison rule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2697480"/>
            <a:ext cx="48006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697480"/>
            <a:ext cx="4800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03D7A"/>
                </a:solidFill>
                <a:latin typeface="Calibri"/>
              </a:rPr>
              <a:t>d₁ᵐⁱⁿ   &lt;   d_rᵐᵃʲ  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65760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C757D"/>
                </a:solidFill>
                <a:latin typeface="Calibri"/>
              </a:rPr>
              <a:t>Majority rank shifted to r = N_maj / N_min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4069080"/>
            <a:ext cx="4800600" cy="640080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069080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0824D"/>
                </a:solidFill>
                <a:latin typeface="Calibri"/>
              </a:rPr>
              <a:t>→  unbiased under Poisson sampling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FAMILY OF VARIANTS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440680"/>
            <a:ext cx="2240280" cy="9601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440680"/>
            <a:ext cx="2240280" cy="36576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559552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KNNFairRank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79592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core:  kₑff = 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40" y="5440680"/>
            <a:ext cx="2240280" cy="9601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34640" y="5440680"/>
            <a:ext cx="2240280" cy="36576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71800" y="5559552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KNNFairRankCV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5879592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α tuned in  kₑff = rᵅ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5440680"/>
            <a:ext cx="2240280" cy="9601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20640" y="5440680"/>
            <a:ext cx="2240280" cy="36576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57800" y="5559552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KNNFairRankJointCV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57800" y="5879592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joint CV  (α, n_votes)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06640" y="5440680"/>
            <a:ext cx="2240280" cy="9601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06640" y="5440680"/>
            <a:ext cx="2240280" cy="36576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43800" y="5559552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KNNFairRankEnsemble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5879592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average over full grid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92640" y="5440680"/>
            <a:ext cx="2240280" cy="9601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692640" y="5440680"/>
            <a:ext cx="2240280" cy="36576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29800" y="5559552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KNNFairRankJackknife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800" y="5879592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LOO variance reduction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EXPERIMENTAL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39"/>
                </a:solidFill>
                <a:latin typeface="Calibri"/>
              </a:rPr>
              <a:t>Benchmark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7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Calibri"/>
              </a:rPr>
              <a:t>KNNFairRank  ·  Machine Learning I  ·  CC2008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11155680" cy="7772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73152" cy="777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3D7A"/>
                </a:solidFill>
                <a:latin typeface="Calibri"/>
              </a:rPr>
              <a:t>Datasets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8321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12939"/>
                </a:solidFill>
                <a:latin typeface="Calibri"/>
              </a:rPr>
              <a:t>49 binary CI datasets   ·   40 non-degenerate (main)   ·   9 degenerate (annex)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07208"/>
            <a:ext cx="11155680" cy="7772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807208"/>
            <a:ext cx="73152" cy="777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07208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3D7A"/>
                </a:solidFill>
                <a:latin typeface="Calibri"/>
              </a:rPr>
              <a:t>Cross-validation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807208"/>
            <a:ext cx="8321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12939"/>
                </a:solidFill>
                <a:latin typeface="Calibri"/>
              </a:rPr>
              <a:t>Outer: 5 reps × 10-fold StratifiedKFold = 50 splits   ·   Inner: 3-fold for (α, n_votes)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94176"/>
            <a:ext cx="11155680" cy="7772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694176"/>
            <a:ext cx="73152" cy="777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94176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3D7A"/>
                </a:solidFill>
                <a:latin typeface="Calibri"/>
              </a:rPr>
              <a:t>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694176"/>
            <a:ext cx="8321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12939"/>
                </a:solidFill>
                <a:latin typeface="Calibri"/>
              </a:rPr>
              <a:t>Threshold  —  G-Mean · MCC · F1     Ranking  —  ROC-AUC · PR-AUC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581144"/>
            <a:ext cx="11155680" cy="7772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581144"/>
            <a:ext cx="73152" cy="777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81144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3D7A"/>
                </a:solidFill>
                <a:latin typeface="Calibri"/>
              </a:rPr>
              <a:t>Hyperparameters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581144"/>
            <a:ext cx="8321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12939"/>
                </a:solidFill>
                <a:latin typeface="Calibri"/>
              </a:rPr>
              <a:t>α-grid {0.25, 0.50, 0.75, 1.00}   ·   n_votes grid {1, 2, 3, 5, 7, 10}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468112"/>
            <a:ext cx="11155680" cy="7772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468112"/>
            <a:ext cx="73152" cy="777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68112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3D7A"/>
                </a:solidFill>
                <a:latin typeface="Calibri"/>
              </a:rPr>
              <a:t>Stats &amp; repro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5468112"/>
            <a:ext cx="8321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12939"/>
                </a:solidFill>
                <a:latin typeface="Calibri"/>
              </a:rPr>
              <a:t>Friedman → Wilcoxon-Holm → Cohen's d   ·   seed = 42   ·   benchmark_5rep.csv (24,500 rows)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CANDIDATE SCREENING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39"/>
                </a:solidFill>
                <a:latin typeface="Calibri"/>
              </a:rPr>
              <a:t>From 27 algorithms to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8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Calibri"/>
              </a:rPr>
              <a:t>KNNFairRank  ·  Machine Learning I  ·  CC2008</a:t>
            </a:r>
          </a:p>
        </p:txBody>
      </p:sp>
      <p:pic>
        <p:nvPicPr>
          <p:cNvPr id="6" name="Picture 5" descr="screening_27_algorith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7315200" cy="462173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92440" y="1691640"/>
            <a:ext cx="3749039" cy="42062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92440" y="1691640"/>
            <a:ext cx="73152" cy="4206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82880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ELIMINATION GROUPS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4884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2939"/>
                </a:solidFill>
                <a:latin typeface="Calibri"/>
              </a:rPr>
              <a:t>G1 · KNNAdaptive*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423160"/>
            <a:ext cx="338327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4  —  wrong paradigm</a:t>
            </a:r>
          </a:p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(adapt metric, not vote)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06324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2939"/>
                </a:solidFill>
                <a:latin typeface="Calibri"/>
              </a:rPr>
              <a:t>G2 · Magnitude / LocalOdds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337560"/>
            <a:ext cx="338327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5  —  redundant with</a:t>
            </a:r>
          </a:p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α-CV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77639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2939"/>
                </a:solidFill>
                <a:latin typeface="Calibri"/>
              </a:rPr>
              <a:t>G3 · Density / Bayesian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251959"/>
            <a:ext cx="338327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3  —  noisy estimation</a:t>
            </a:r>
          </a:p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in high dim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89204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2939"/>
                </a:solidFill>
                <a:latin typeface="Calibri"/>
              </a:rPr>
              <a:t>G4 · Topo / Ensemble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166360"/>
            <a:ext cx="338327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5  —  dominated by</a:t>
            </a:r>
          </a:p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TopoJointBootstrap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39"/>
                </a:solidFill>
                <a:latin typeface="Calibri"/>
              </a:rPr>
              <a:t>Headline performance — 40 datasets × 50 splits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9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Calibri"/>
              </a:rPr>
              <a:t>KNNFairRank  ·  Machine Learning I  ·  CC2008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554480"/>
            <a:ext cx="4206240" cy="41148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55448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Algorithm  (sorted by G-Mean)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1554480"/>
            <a:ext cx="1737360" cy="41148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5544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G-Mean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554480"/>
            <a:ext cx="1737360" cy="41148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5544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ROC-AUC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1554480"/>
            <a:ext cx="1737360" cy="41148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5544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MCC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1965960"/>
            <a:ext cx="4206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196596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12939"/>
                </a:solidFill>
                <a:latin typeface="Calibri"/>
              </a:rPr>
              <a:t>KNNFairRankJointCV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1965960"/>
            <a:ext cx="1737360" cy="41148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196596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0.799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965960"/>
            <a:ext cx="17373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96596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939"/>
                </a:solidFill>
                <a:latin typeface="Calibri"/>
              </a:rPr>
              <a:t>0.871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965960"/>
            <a:ext cx="1737360" cy="41148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96596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0.531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2377440"/>
            <a:ext cx="4206240" cy="4114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237744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12939"/>
                </a:solidFill>
                <a:latin typeface="Calibri"/>
              </a:rPr>
              <a:t>KNNFairRankEnsemble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2377440"/>
            <a:ext cx="1737360" cy="4114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237744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939"/>
                </a:solidFill>
                <a:latin typeface="Calibri"/>
              </a:rPr>
              <a:t>0.781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2377440"/>
            <a:ext cx="1737360" cy="41148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237744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0.878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2377440"/>
            <a:ext cx="1737360" cy="4114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237744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939"/>
                </a:solidFill>
                <a:latin typeface="Calibri"/>
              </a:rPr>
              <a:t>0.516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2788920"/>
            <a:ext cx="4206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278892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12939"/>
                </a:solidFill>
                <a:latin typeface="Calibri"/>
              </a:rPr>
              <a:t>KNNFairRankCV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2788920"/>
            <a:ext cx="17373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0" y="278892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939"/>
                </a:solidFill>
                <a:latin typeface="Calibri"/>
              </a:rPr>
              <a:t>0.788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2788920"/>
            <a:ext cx="17373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278892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939"/>
                </a:solidFill>
                <a:latin typeface="Calibri"/>
              </a:rPr>
              <a:t>0.870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52560" y="2788920"/>
            <a:ext cx="17373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278892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939"/>
                </a:solidFill>
                <a:latin typeface="Calibri"/>
              </a:rPr>
              <a:t>0.527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0" y="3200400"/>
            <a:ext cx="4206240" cy="4114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4480" y="320040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12939"/>
                </a:solidFill>
                <a:latin typeface="Calibri"/>
              </a:rPr>
              <a:t>KNNFairRankOptVotes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77840" y="3200400"/>
            <a:ext cx="1737360" cy="4114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0" y="320040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939"/>
                </a:solidFill>
                <a:latin typeface="Calibri"/>
              </a:rPr>
              <a:t>0.785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3200400"/>
            <a:ext cx="1737360" cy="4114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320040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939"/>
                </a:solidFill>
                <a:latin typeface="Calibri"/>
              </a:rPr>
              <a:t>0.866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52560" y="3200400"/>
            <a:ext cx="1737360" cy="4114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52560" y="320040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939"/>
                </a:solidFill>
                <a:latin typeface="Calibri"/>
              </a:rPr>
              <a:t>0.522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71600" y="3611880"/>
            <a:ext cx="4206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54480" y="361188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12939"/>
                </a:solidFill>
                <a:latin typeface="Calibri"/>
              </a:rPr>
              <a:t>KNNFairRank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77840" y="3611880"/>
            <a:ext cx="17373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77840" y="36118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939"/>
                </a:solidFill>
                <a:latin typeface="Calibri"/>
              </a:rPr>
              <a:t>0.775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0" y="3611880"/>
            <a:ext cx="17373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0" y="36118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939"/>
                </a:solidFill>
                <a:latin typeface="Calibri"/>
              </a:rPr>
              <a:t>0.860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52560" y="3611880"/>
            <a:ext cx="17373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2560" y="36118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939"/>
                </a:solidFill>
                <a:latin typeface="Calibri"/>
              </a:rPr>
              <a:t>0.510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71600" y="4023360"/>
            <a:ext cx="4206240" cy="4114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54480" y="402336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12939"/>
                </a:solidFill>
                <a:latin typeface="Calibri"/>
              </a:rPr>
              <a:t>KNNFairRankJackknife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77840" y="4023360"/>
            <a:ext cx="1737360" cy="4114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77840" y="402336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939"/>
                </a:solidFill>
                <a:latin typeface="Calibri"/>
              </a:rPr>
              <a:t>0.772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0" y="4023360"/>
            <a:ext cx="1737360" cy="4114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0" y="402336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939"/>
                </a:solidFill>
                <a:latin typeface="Calibri"/>
              </a:rPr>
              <a:t>0.872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52560" y="4023360"/>
            <a:ext cx="1737360" cy="4114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52560" y="402336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939"/>
                </a:solidFill>
                <a:latin typeface="Calibri"/>
              </a:rPr>
              <a:t>0.510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371600" y="4434840"/>
            <a:ext cx="4206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54480" y="443484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12939"/>
                </a:solidFill>
                <a:latin typeface="Calibri"/>
              </a:rPr>
              <a:t>KNNFairRankTopoJointBootstrap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77840" y="4434840"/>
            <a:ext cx="17373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577840" y="443484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939"/>
                </a:solidFill>
                <a:latin typeface="Calibri"/>
              </a:rPr>
              <a:t>0.768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0" y="4434840"/>
            <a:ext cx="17373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0" y="443484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939"/>
                </a:solidFill>
                <a:latin typeface="Calibri"/>
              </a:rPr>
              <a:t>0.860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52560" y="4434840"/>
            <a:ext cx="17373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52560" y="443484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939"/>
                </a:solidFill>
                <a:latin typeface="Calibri"/>
              </a:rPr>
              <a:t>0.503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0" y="4846320"/>
            <a:ext cx="4206240" cy="4114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554480" y="484632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12939"/>
                </a:solidFill>
                <a:latin typeface="Calibri"/>
              </a:rPr>
              <a:t>SMOTE+KNN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577840" y="4846320"/>
            <a:ext cx="1737360" cy="4114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77840" y="484632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939"/>
                </a:solidFill>
                <a:latin typeface="Calibri"/>
              </a:rPr>
              <a:t>0.755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15200" y="4846320"/>
            <a:ext cx="1737360" cy="4114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0" y="484632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939"/>
                </a:solidFill>
                <a:latin typeface="Calibri"/>
              </a:rPr>
              <a:t>0.844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52560" y="4846320"/>
            <a:ext cx="1737360" cy="4114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52560" y="484632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939"/>
                </a:solidFill>
                <a:latin typeface="Calibri"/>
              </a:rPr>
              <a:t>0.482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371600" y="5257800"/>
            <a:ext cx="4206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54480" y="525780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12939"/>
                </a:solidFill>
                <a:latin typeface="Calibri"/>
              </a:rPr>
              <a:t>KNNWeighted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577840" y="5257800"/>
            <a:ext cx="17373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577840" y="525780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939"/>
                </a:solidFill>
                <a:latin typeface="Calibri"/>
              </a:rPr>
              <a:t>0.689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315200" y="5257800"/>
            <a:ext cx="17373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15200" y="525780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939"/>
                </a:solidFill>
                <a:latin typeface="Calibri"/>
              </a:rPr>
              <a:t>0.812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52560" y="5257800"/>
            <a:ext cx="17373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052560" y="525780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939"/>
                </a:solidFill>
                <a:latin typeface="Calibri"/>
              </a:rPr>
              <a:t>0.420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371600" y="5669280"/>
            <a:ext cx="4206240" cy="4114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554480" y="566928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12939"/>
                </a:solidFill>
                <a:latin typeface="Calibri"/>
              </a:rPr>
              <a:t>KNNOptK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577840" y="5669280"/>
            <a:ext cx="1737360" cy="4114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577840" y="56692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939"/>
                </a:solidFill>
                <a:latin typeface="Calibri"/>
              </a:rPr>
              <a:t>0.673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315200" y="5669280"/>
            <a:ext cx="1737360" cy="4114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315200" y="56692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939"/>
                </a:solidFill>
                <a:latin typeface="Calibri"/>
              </a:rPr>
              <a:t>0.840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52560" y="5669280"/>
            <a:ext cx="1737360" cy="4114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052560" y="56692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939"/>
                </a:solidFill>
                <a:latin typeface="Calibri"/>
              </a:rPr>
              <a:t>0.440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2920" y="132588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C757D"/>
                </a:solidFill>
                <a:latin typeface="Calibri"/>
              </a:rPr>
              <a:t>Champion cells highlighted in navy   ·   JointCV  →  threshold metrics   ·   Ensemble  →  ranking metric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RESULTS · G-Mean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39"/>
                </a:solidFill>
                <a:latin typeface="Calibri"/>
              </a:rPr>
              <a:t>Champion gap vs principled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10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Calibri"/>
              </a:rPr>
              <a:t>KNNFairRank  ·  Machine Learning I  ·  CC2008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7132320" cy="42976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9384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KNNFairRankJointCV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965960"/>
            <a:ext cx="3287725" cy="27432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39485" y="1929384"/>
            <a:ext cx="731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12939"/>
                </a:solidFill>
                <a:latin typeface="Calibri"/>
              </a:rPr>
              <a:t>0.799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95144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KNNFairRankCV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2331720"/>
            <a:ext cx="3242462" cy="27432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4222" y="2295144"/>
            <a:ext cx="731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12939"/>
                </a:solidFill>
                <a:latin typeface="Calibri"/>
              </a:rPr>
              <a:t>0.788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60904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KNNFairRankOptVotes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2697480"/>
            <a:ext cx="3230118" cy="27432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81878" y="2660904"/>
            <a:ext cx="731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12939"/>
                </a:solidFill>
                <a:latin typeface="Calibri"/>
              </a:rPr>
              <a:t>0.785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026664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KNNFairRankEnsemble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3063240"/>
            <a:ext cx="3213658" cy="27432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65418" y="3026664"/>
            <a:ext cx="731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12939"/>
                </a:solidFill>
                <a:latin typeface="Calibri"/>
              </a:rPr>
              <a:t>0.781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392424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KNNFairRank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3429000"/>
            <a:ext cx="3188970" cy="27432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40730" y="3392424"/>
            <a:ext cx="731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12939"/>
                </a:solidFill>
                <a:latin typeface="Calibri"/>
              </a:rPr>
              <a:t>0.775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758184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KNNFairRankJackknife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3794760"/>
            <a:ext cx="3176625" cy="27432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28385" y="3758184"/>
            <a:ext cx="731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12939"/>
                </a:solidFill>
                <a:latin typeface="Calibri"/>
              </a:rPr>
              <a:t>0.772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23944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KNNFairRankTopoJB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6040" y="4160520"/>
            <a:ext cx="3160166" cy="27432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11926" y="4123944"/>
            <a:ext cx="731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12939"/>
                </a:solidFill>
                <a:latin typeface="Calibri"/>
              </a:rPr>
              <a:t>0.768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489704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SMOTE+KNN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40" y="4526280"/>
            <a:ext cx="3106674" cy="27432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58434" y="4489704"/>
            <a:ext cx="731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12939"/>
                </a:solidFill>
                <a:latin typeface="Calibri"/>
              </a:rPr>
              <a:t>0.755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855464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KNNWeighted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4892040"/>
            <a:ext cx="2835097" cy="27432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857" y="4855464"/>
            <a:ext cx="731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12939"/>
                </a:solidFill>
                <a:latin typeface="Calibri"/>
              </a:rPr>
              <a:t>0.689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221224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KNNOptK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06040" y="5257800"/>
            <a:ext cx="2769260" cy="27432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21020" y="5221224"/>
            <a:ext cx="731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12939"/>
                </a:solidFill>
                <a:latin typeface="Calibri"/>
              </a:rPr>
              <a:t>0.673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53212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C757D"/>
                </a:solidFill>
                <a:latin typeface="Calibri"/>
              </a:rPr>
              <a:t>Mean G-Mean across 40 datasets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1737360"/>
            <a:ext cx="3840480" cy="182880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79" y="18288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E7F0FA"/>
                </a:solidFill>
                <a:latin typeface="Calibri"/>
              </a:rPr>
              <a:t>Cohen's 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219456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+0.88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32461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E7F0FA"/>
                </a:solidFill>
                <a:latin typeface="Calibri"/>
              </a:rPr>
              <a:t>LARGE effect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3749039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3D7A"/>
                </a:solidFill>
                <a:latin typeface="Calibri"/>
              </a:rPr>
              <a:t>JointCV  vs  KNNOptK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41148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Δ mean G-Mean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59" y="4114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212939"/>
                </a:solidFill>
                <a:latin typeface="Calibri"/>
              </a:rPr>
              <a:t>+0.126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45262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Wilcoxon raw 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59" y="45262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212939"/>
                </a:solidFill>
                <a:latin typeface="Calibri"/>
              </a:rPr>
              <a:t>&lt; 10⁻⁴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49377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Holm-corrected 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4159" y="49377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212939"/>
                </a:solidFill>
                <a:latin typeface="Calibri"/>
              </a:rPr>
              <a:t>&lt; 10⁻⁴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53492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Bootstrap 95% CI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24159" y="53492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212939"/>
                </a:solidFill>
                <a:latin typeface="Calibri"/>
              </a:rPr>
              <a:t>[+0.10, +0.15]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RESULTS · IR quartile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39"/>
                </a:solidFill>
                <a:latin typeface="Calibri"/>
              </a:rPr>
              <a:t>Advantage is universal, not IR-conditional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11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Calibri"/>
              </a:rPr>
              <a:t>KNNFairRank  ·  Machine Learning I  ·  CC2008</a:t>
            </a:r>
          </a:p>
        </p:txBody>
      </p:sp>
      <p:pic>
        <p:nvPicPr>
          <p:cNvPr id="6" name="Picture 5" descr="bias_by_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7772400" cy="34826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95360" y="1691640"/>
            <a:ext cx="3291840" cy="16916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783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7F0FA"/>
                </a:solidFill>
                <a:latin typeface="Calibri"/>
              </a:rPr>
              <a:t>JointCV win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1031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0632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E7F0FA"/>
                </a:solidFill>
                <a:latin typeface="Calibri"/>
              </a:rPr>
              <a:t>of 40 datasets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3611880"/>
            <a:ext cx="3291840" cy="13258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95360" y="3611880"/>
            <a:ext cx="73152" cy="132588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3749039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Kendall trend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4023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12939"/>
                </a:solidFill>
                <a:latin typeface="Calibri"/>
              </a:rPr>
              <a:t>τ = −0.08    p = 0.54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44348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  <a:latin typeface="Calibri"/>
              </a:rPr>
              <a:t>Flat trend across IR axis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5120640"/>
            <a:ext cx="3291840" cy="914400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521208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03D7A"/>
                </a:solidFill>
                <a:latin typeface="Calibri"/>
              </a:rPr>
              <a:t>Universal, not IR-conditional.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RESULTS · Statistical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39"/>
                </a:solidFill>
                <a:latin typeface="Calibri"/>
              </a:rPr>
              <a:t>Demšar 2006 — rejected, large, robust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12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Calibri"/>
              </a:rPr>
              <a:t>KNNFairRank  ·  Machine Learning I  ·  CC2008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11201400" cy="12801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109728" cy="128016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① FRIEDMAN  ·  global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12939"/>
                </a:solidFill>
                <a:latin typeface="Calibri"/>
              </a:rPr>
              <a:t>Rejected on all 5 metrics  —  p &lt; 10⁻¹²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  <a:latin typeface="Calibri"/>
              </a:rPr>
              <a:t>Algorithms differ; warrants post-hoc analysis.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46120"/>
            <a:ext cx="11201400" cy="5486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246120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② POST-HOC  ·  Wilcoxon signed-rank  +  Holm correction  +  Cohen's 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94760"/>
            <a:ext cx="11201400" cy="5486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79476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6C757D"/>
                </a:solidFill>
                <a:latin typeface="Calibri"/>
              </a:rPr>
              <a:t>Algorithm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79476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6C757D"/>
                </a:solidFill>
                <a:latin typeface="Calibri"/>
              </a:rPr>
              <a:t>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79476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6C757D"/>
                </a:solidFill>
                <a:latin typeface="Calibri"/>
              </a:rPr>
              <a:t>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79476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6C757D"/>
                </a:solidFill>
                <a:latin typeface="Calibri"/>
              </a:rPr>
              <a:t>p_holm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79476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6C757D"/>
                </a:solidFill>
                <a:latin typeface="Calibri"/>
              </a:rPr>
              <a:t>Cohen's 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379476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6C757D"/>
                </a:solidFill>
                <a:latin typeface="Calibri"/>
              </a:rPr>
              <a:t>Effect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43400"/>
            <a:ext cx="112014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3434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3D7A"/>
                </a:solidFill>
                <a:latin typeface="Calibri"/>
              </a:rPr>
              <a:t>JointCV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43434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12939"/>
                </a:solidFill>
                <a:latin typeface="Calibri"/>
              </a:rPr>
              <a:t>vs  KNNOptK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3434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12939"/>
                </a:solidFill>
                <a:latin typeface="Calibri"/>
              </a:rPr>
              <a:t>G-Mean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43434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3D7A"/>
                </a:solidFill>
                <a:latin typeface="Calibri"/>
              </a:rPr>
              <a:t>&lt; 10⁻⁴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43434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3D7A"/>
                </a:solidFill>
                <a:latin typeface="Calibri"/>
              </a:rPr>
              <a:t>+0.88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29800" y="4453128"/>
            <a:ext cx="1508760" cy="329184"/>
          </a:xfrm>
          <a:prstGeom prst="rect">
            <a:avLst/>
          </a:prstGeom>
          <a:solidFill>
            <a:srgbClr val="108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40" y="434340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LARGE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892040"/>
            <a:ext cx="112014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8920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3D7A"/>
                </a:solidFill>
                <a:latin typeface="Calibri"/>
              </a:rPr>
              <a:t>Ensemble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89204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12939"/>
                </a:solidFill>
                <a:latin typeface="Calibri"/>
              </a:rPr>
              <a:t>vs  SMOTE+KNN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89204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12939"/>
                </a:solidFill>
                <a:latin typeface="Calibri"/>
              </a:rPr>
              <a:t>ROC-AUC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48920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3D7A"/>
                </a:solidFill>
                <a:latin typeface="Calibri"/>
              </a:rPr>
              <a:t>&lt; 10⁻⁴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89204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3D7A"/>
                </a:solidFill>
                <a:latin typeface="Calibri"/>
              </a:rPr>
              <a:t>+0.56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29800" y="5001768"/>
            <a:ext cx="1508760" cy="329184"/>
          </a:xfrm>
          <a:prstGeom prst="rect">
            <a:avLst/>
          </a:prstGeom>
          <a:solidFill>
            <a:srgbClr val="D98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64040" y="489204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RESULTS · Theory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39"/>
                </a:solidFill>
                <a:latin typeface="Calibri"/>
              </a:rPr>
              <a:t>Poisson holds — but minorities cluster more than predicted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13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Calibri"/>
              </a:rPr>
              <a:t>KNNFairRank  ·  Machine Learning I  ·  CC2008</a:t>
            </a:r>
          </a:p>
        </p:txBody>
      </p:sp>
      <p:pic>
        <p:nvPicPr>
          <p:cNvPr id="6" name="Picture 5" descr="poisson_empirical_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8412480" cy="285370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0" y="1691640"/>
            <a:ext cx="2743200" cy="14630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783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E7F0FA"/>
                </a:solidFill>
                <a:latin typeface="Calibri"/>
              </a:rPr>
              <a:t>Empirical &gt; Theory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05740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37 / 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834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E7F0FA"/>
                </a:solidFill>
                <a:latin typeface="Calibri"/>
              </a:rPr>
              <a:t>datasets clustered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3337560"/>
            <a:ext cx="2743200" cy="14630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3337560"/>
            <a:ext cx="73152" cy="14630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72600" y="3474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37947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12939"/>
                </a:solidFill>
                <a:latin typeface="Calibri"/>
              </a:rPr>
              <a:t>Motivates α &lt; 1</a:t>
            </a:r>
          </a:p>
          <a:p>
            <a:pPr algn="l"/>
            <a:r>
              <a:rPr sz="1200" b="0" i="0">
                <a:solidFill>
                  <a:srgbClr val="212939"/>
                </a:solidFill>
                <a:latin typeface="Calibri"/>
              </a:rPr>
              <a:t>in KNNFairRankCV —</a:t>
            </a:r>
          </a:p>
          <a:p>
            <a:pPr algn="l"/>
            <a:r>
              <a:rPr sz="1200" b="0" i="0">
                <a:solidFill>
                  <a:srgbClr val="212939"/>
                </a:solidFill>
                <a:latin typeface="Calibri"/>
              </a:rPr>
              <a:t>dampen the correction.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4983480"/>
            <a:ext cx="2743200" cy="1097280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50749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C757D"/>
                </a:solidFill>
                <a:latin typeface="Calibri"/>
              </a:rPr>
              <a:t>Median log₂ deviation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534924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003D7A"/>
                </a:solidFill>
                <a:latin typeface="Calibri"/>
              </a:rPr>
              <a:t>≈ +1.0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THEORY ↔ DATA 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39"/>
                </a:solidFill>
                <a:latin typeface="Calibri"/>
              </a:rPr>
              <a:t>Theory predicts where to win — empirically confirmed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14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Calibri"/>
              </a:rPr>
              <a:t>KNNFairRank  ·  Machine Learning I  ·  CC2008</a:t>
            </a:r>
          </a:p>
        </p:txBody>
      </p:sp>
      <p:pic>
        <p:nvPicPr>
          <p:cNvPr id="6" name="Picture 5" descr="knn_meta_vs_advan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7772400" cy="28588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16459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Theory predicts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1965960"/>
            <a:ext cx="3291840" cy="187451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95360" y="1965960"/>
            <a:ext cx="73152" cy="1874519"/>
          </a:xfrm>
          <a:prstGeom prst="rect">
            <a:avLst/>
          </a:prstGeom>
          <a:solidFill>
            <a:srgbClr val="108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21031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824D"/>
                </a:solidFill>
                <a:latin typeface="Calibri"/>
              </a:rPr>
              <a:t>borderline_fraction  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3774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12939"/>
                </a:solidFill>
                <a:latin typeface="Calibri"/>
              </a:rPr>
              <a:t>more minorities at the</a:t>
            </a:r>
          </a:p>
          <a:p>
            <a:pPr algn="l"/>
            <a:r>
              <a:rPr sz="1100" b="0" i="1">
                <a:solidFill>
                  <a:srgbClr val="212939"/>
                </a:solidFill>
                <a:latin typeface="Calibri"/>
              </a:rPr>
              <a:t>boundary → larger 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301752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3D7A"/>
                </a:solidFill>
                <a:latin typeface="Calibri"/>
              </a:rPr>
              <a:t>ρ = +0.77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33832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p &lt; 10⁻⁴   (n = 38)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3977639"/>
            <a:ext cx="3291840" cy="187451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0" y="3977639"/>
            <a:ext cx="73152" cy="1874519"/>
          </a:xfrm>
          <a:prstGeom prst="rect">
            <a:avLst/>
          </a:prstGeom>
          <a:solidFill>
            <a:srgbClr val="108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41148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824D"/>
                </a:solidFill>
                <a:latin typeface="Calibri"/>
              </a:rPr>
              <a:t>minority_nbr_purity  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438912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12939"/>
                </a:solidFill>
                <a:latin typeface="Calibri"/>
              </a:rPr>
              <a:t>purer minority clusters</a:t>
            </a:r>
          </a:p>
          <a:p>
            <a:pPr algn="l"/>
            <a:r>
              <a:rPr sz="1100" b="0" i="1">
                <a:solidFill>
                  <a:srgbClr val="212939"/>
                </a:solidFill>
                <a:latin typeface="Calibri"/>
              </a:rPr>
              <a:t>→ smaller 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502920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3D7A"/>
                </a:solidFill>
                <a:latin typeface="Calibri"/>
              </a:rPr>
              <a:t>ρ = −0.76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53949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p &lt; 10⁻⁴   (n = 38)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39"/>
                </a:solidFill>
                <a:latin typeface="Calibri"/>
              </a:rPr>
              <a:t>Trade-off — mathematically coherent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15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Calibri"/>
              </a:rPr>
              <a:t>KNNFairRank  ·  Machine Learning I  ·  CC2008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5394960" cy="42976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5394960" cy="64008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E7F0FA"/>
                </a:solidFill>
                <a:latin typeface="Calibri"/>
              </a:rPr>
              <a:t>THRESHOLD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84248"/>
            <a:ext cx="5394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G-Mean   ·   MCC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Winner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03D7A"/>
                </a:solidFill>
                <a:latin typeface="Calibri"/>
              </a:rPr>
              <a:t>KNNFairRankJointCV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9476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12939"/>
                </a:solidFill>
                <a:latin typeface="Calibri"/>
              </a:rPr>
              <a:t>Inner CV picks a single optimal (α, n_votes) pair.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8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212939"/>
                </a:solidFill>
                <a:latin typeface="Calibri"/>
              </a:rPr>
              <a:t>Crisp probabilities → sharp 0/1 decisions.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983480"/>
            <a:ext cx="4663440" cy="777240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983480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3D7A"/>
                </a:solidFill>
                <a:latin typeface="Calibri"/>
              </a:rPr>
              <a:t>G-Mean 0.799    ·    MCC 0.531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691640"/>
            <a:ext cx="5394960" cy="42976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691640"/>
            <a:ext cx="5394960" cy="64008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6916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E7F0FA"/>
                </a:solidFill>
                <a:latin typeface="Calibri"/>
              </a:rPr>
              <a:t>RANKING 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984248"/>
            <a:ext cx="5394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ROC-AUC   ·   PR-AUC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5146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Winner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78892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03D7A"/>
                </a:solidFill>
                <a:latin typeface="Calibri"/>
              </a:rPr>
              <a:t>KNNFairRankEnsemble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5204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Why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79476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12939"/>
                </a:solidFill>
                <a:latin typeface="Calibri"/>
              </a:rPr>
              <a:t>Averages vote fractions across the full α-grid.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29768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212939"/>
                </a:solidFill>
                <a:latin typeface="Calibri"/>
              </a:rPr>
              <a:t>Smoother probabilities → better ranking quality.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9400" y="4983480"/>
            <a:ext cx="4663440" cy="777240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4983480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3D7A"/>
                </a:solidFill>
                <a:latin typeface="Calibri"/>
              </a:rPr>
              <a:t>ROC-AUC 0.878    ·    PR-AUC 0.649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1">
                <a:solidFill>
                  <a:srgbClr val="003D7A"/>
                </a:solidFill>
                <a:latin typeface="Calibri"/>
              </a:rPr>
              <a:t>Mathematically coherent: different losses → different optimal predictors.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39"/>
                </a:solidFill>
                <a:latin typeface="Calibri"/>
              </a:rPr>
              <a:t>Contributions  ·  Limitations  · 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16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Calibri"/>
              </a:rPr>
              <a:t>KNNFairRank  ·  Machine Learning I  ·  CC2008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3749039" cy="43891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3749039" cy="548640"/>
          </a:xfrm>
          <a:prstGeom prst="rect">
            <a:avLst/>
          </a:prstGeom>
          <a:solidFill>
            <a:srgbClr val="108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CONTRIBUTIONS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23744"/>
            <a:ext cx="201168" cy="201168"/>
          </a:xfrm>
          <a:prstGeom prst="ellipse">
            <a:avLst/>
          </a:prstGeom>
          <a:solidFill>
            <a:srgbClr val="108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68880"/>
            <a:ext cx="301751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12939"/>
                </a:solidFill>
                <a:latin typeface="Calibri"/>
              </a:rPr>
              <a:t>Principle-derived correction:</a:t>
            </a:r>
          </a:p>
          <a:p>
            <a:pPr algn="l"/>
            <a:r>
              <a:rPr sz="1200" b="0" i="0">
                <a:solidFill>
                  <a:srgbClr val="212939"/>
                </a:solidFill>
                <a:latin typeface="Calibri"/>
              </a:rPr>
              <a:t>kₑff = r from Poisson order statistics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666744"/>
            <a:ext cx="201168" cy="201168"/>
          </a:xfrm>
          <a:prstGeom prst="ellipse">
            <a:avLst/>
          </a:prstGeom>
          <a:solidFill>
            <a:srgbClr val="108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66744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301751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12939"/>
                </a:solidFill>
                <a:latin typeface="Calibri"/>
              </a:rPr>
              <a:t>Rigorous validation:</a:t>
            </a:r>
          </a:p>
          <a:p>
            <a:pPr algn="l"/>
            <a:r>
              <a:rPr sz="1200" b="0" i="0">
                <a:solidFill>
                  <a:srgbClr val="212939"/>
                </a:solidFill>
                <a:latin typeface="Calibri"/>
              </a:rPr>
              <a:t>49 ds × 50 splits, full Demšar 2006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809744"/>
            <a:ext cx="201168" cy="201168"/>
          </a:xfrm>
          <a:prstGeom prst="ellipse">
            <a:avLst/>
          </a:prstGeom>
          <a:solidFill>
            <a:srgbClr val="108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809744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54880"/>
            <a:ext cx="301751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12939"/>
                </a:solidFill>
                <a:latin typeface="Calibri"/>
              </a:rPr>
              <a:t>Direct theory ↔ data link:</a:t>
            </a:r>
          </a:p>
          <a:p>
            <a:pPr algn="l"/>
            <a:r>
              <a:rPr sz="1200" b="0" i="0">
                <a:solidFill>
                  <a:srgbClr val="212939"/>
                </a:solidFill>
                <a:latin typeface="Calibri"/>
              </a:rPr>
              <a:t>ρ = +0.77 with borderline_fraction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19" y="1691640"/>
            <a:ext cx="3749039" cy="43891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19" y="1691640"/>
            <a:ext cx="3749039" cy="548640"/>
          </a:xfrm>
          <a:prstGeom prst="rect">
            <a:avLst/>
          </a:prstGeom>
          <a:solidFill>
            <a:srgbClr val="D98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19" y="180136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21" name="Oval 20"/>
          <p:cNvSpPr/>
          <p:nvPr/>
        </p:nvSpPr>
        <p:spPr>
          <a:xfrm>
            <a:off x="4663439" y="2523744"/>
            <a:ext cx="201168" cy="201168"/>
          </a:xfrm>
          <a:prstGeom prst="ellipse">
            <a:avLst/>
          </a:prstGeom>
          <a:solidFill>
            <a:srgbClr val="D98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39" y="2523744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79" y="2468880"/>
            <a:ext cx="301751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12939"/>
                </a:solidFill>
                <a:latin typeface="Calibri"/>
              </a:rPr>
              <a:t>Poisson assumption violated</a:t>
            </a:r>
          </a:p>
          <a:p>
            <a:pPr algn="l"/>
            <a:r>
              <a:rPr sz="1200" b="0" i="0">
                <a:solidFill>
                  <a:srgbClr val="212939"/>
                </a:solidFill>
                <a:latin typeface="Calibri"/>
              </a:rPr>
              <a:t>on ~95% of datasets (handled by α-CV)</a:t>
            </a:r>
          </a:p>
        </p:txBody>
      </p:sp>
      <p:sp>
        <p:nvSpPr>
          <p:cNvPr id="24" name="Oval 23"/>
          <p:cNvSpPr/>
          <p:nvPr/>
        </p:nvSpPr>
        <p:spPr>
          <a:xfrm>
            <a:off x="4663439" y="3666744"/>
            <a:ext cx="201168" cy="201168"/>
          </a:xfrm>
          <a:prstGeom prst="ellipse">
            <a:avLst/>
          </a:prstGeom>
          <a:solidFill>
            <a:srgbClr val="D98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39" y="3666744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79" y="3611880"/>
            <a:ext cx="301751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12939"/>
                </a:solidFill>
                <a:latin typeface="Calibri"/>
              </a:rPr>
              <a:t>k_maj_cap saturates on 1/40</a:t>
            </a:r>
          </a:p>
          <a:p>
            <a:pPr algn="l"/>
            <a:r>
              <a:rPr sz="1200" b="0" i="0">
                <a:solidFill>
                  <a:srgbClr val="212939"/>
                </a:solidFill>
                <a:latin typeface="Calibri"/>
              </a:rPr>
              <a:t>datasets at extreme IR</a:t>
            </a:r>
          </a:p>
        </p:txBody>
      </p:sp>
      <p:sp>
        <p:nvSpPr>
          <p:cNvPr id="27" name="Oval 26"/>
          <p:cNvSpPr/>
          <p:nvPr/>
        </p:nvSpPr>
        <p:spPr>
          <a:xfrm>
            <a:off x="4663439" y="4809744"/>
            <a:ext cx="201168" cy="201168"/>
          </a:xfrm>
          <a:prstGeom prst="ellipse">
            <a:avLst/>
          </a:prstGeom>
          <a:solidFill>
            <a:srgbClr val="D98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39" y="4809744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79" y="4754880"/>
            <a:ext cx="301751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12939"/>
                </a:solidFill>
                <a:latin typeface="Calibri"/>
              </a:rPr>
              <a:t>Multi-vote scheme not yet</a:t>
            </a:r>
          </a:p>
          <a:p>
            <a:pPr algn="l"/>
            <a:r>
              <a:rPr sz="1200" b="0" i="0">
                <a:solidFill>
                  <a:srgbClr val="212939"/>
                </a:solidFill>
                <a:latin typeface="Calibri"/>
              </a:rPr>
              <a:t>formally justified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18" y="1691640"/>
            <a:ext cx="3749039" cy="43891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75318" y="1691640"/>
            <a:ext cx="3749039" cy="54864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18" y="180136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33" name="Oval 32"/>
          <p:cNvSpPr/>
          <p:nvPr/>
        </p:nvSpPr>
        <p:spPr>
          <a:xfrm>
            <a:off x="8549638" y="2523744"/>
            <a:ext cx="201168" cy="201168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38" y="2523744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78" y="2468880"/>
            <a:ext cx="301751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12939"/>
                </a:solidFill>
                <a:latin typeface="Calibri"/>
              </a:rPr>
              <a:t>Neyman-Scott extension</a:t>
            </a:r>
          </a:p>
          <a:p>
            <a:pPr algn="l"/>
            <a:r>
              <a:rPr sz="1200" b="0" i="0">
                <a:solidFill>
                  <a:srgbClr val="212939"/>
                </a:solidFill>
                <a:latin typeface="Calibri"/>
              </a:rPr>
              <a:t>for clustered-minority theory</a:t>
            </a:r>
          </a:p>
        </p:txBody>
      </p:sp>
      <p:sp>
        <p:nvSpPr>
          <p:cNvPr id="36" name="Oval 35"/>
          <p:cNvSpPr/>
          <p:nvPr/>
        </p:nvSpPr>
        <p:spPr>
          <a:xfrm>
            <a:off x="8549638" y="3666744"/>
            <a:ext cx="201168" cy="201168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38" y="3666744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78" y="3611880"/>
            <a:ext cx="301751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12939"/>
                </a:solidFill>
                <a:latin typeface="Calibri"/>
              </a:rPr>
              <a:t>Multi-class generalisation</a:t>
            </a:r>
          </a:p>
          <a:p>
            <a:pPr algn="l"/>
            <a:r>
              <a:rPr sz="1200" b="0" i="0">
                <a:solidFill>
                  <a:srgbClr val="212939"/>
                </a:solidFill>
                <a:latin typeface="Calibri"/>
              </a:rPr>
              <a:t>+ regression analogue</a:t>
            </a:r>
          </a:p>
        </p:txBody>
      </p:sp>
      <p:sp>
        <p:nvSpPr>
          <p:cNvPr id="39" name="Oval 38"/>
          <p:cNvSpPr/>
          <p:nvPr/>
        </p:nvSpPr>
        <p:spPr>
          <a:xfrm>
            <a:off x="8549638" y="4809744"/>
            <a:ext cx="201168" cy="201168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9638" y="4809744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78" y="4754880"/>
            <a:ext cx="301751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12939"/>
                </a:solidFill>
                <a:latin typeface="Calibri"/>
              </a:rPr>
              <a:t>Direct comparison</a:t>
            </a:r>
          </a:p>
          <a:p>
            <a:pPr algn="l"/>
            <a:r>
              <a:rPr sz="1200" b="0" i="0">
                <a:solidFill>
                  <a:srgbClr val="212939"/>
                </a:solidFill>
                <a:latin typeface="Calibri"/>
              </a:rPr>
              <a:t>with DANN  ·  threshold tuning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7F0FA"/>
                </a:solidFill>
                <a:latin typeface="Calibri"/>
              </a:rPr>
              <a:t>ANNEXES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4612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Supporting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E7F0FA"/>
                </a:solidFill>
                <a:latin typeface="Calibri"/>
              </a:rPr>
              <a:t>For Q&amp;A and technical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0076" y="5029200"/>
            <a:ext cx="1828800" cy="36576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ANNEX · 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39"/>
                </a:solidFill>
                <a:latin typeface="Calibri"/>
              </a:rPr>
              <a:t>Are 50 splits enough?  —  rank-convergence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18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Calibri"/>
              </a:rPr>
              <a:t>KNNFairRank  ·  Machine Learning I  ·  CC2008</a:t>
            </a:r>
          </a:p>
        </p:txBody>
      </p:sp>
      <p:pic>
        <p:nvPicPr>
          <p:cNvPr id="6" name="Picture 5" descr="rank_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7772400" cy="347969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95360" y="1691640"/>
            <a:ext cx="3291840" cy="150876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783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E7F0FA"/>
                </a:solidFill>
                <a:latin typeface="Calibri"/>
              </a:rPr>
              <a:t>max |Δrank|  n=40→50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05740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≤ 0.075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8346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E7F0FA"/>
                </a:solidFill>
                <a:latin typeface="Calibri"/>
              </a:rPr>
              <a:t>for both champions (JointCV, Ensemble)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3429000"/>
            <a:ext cx="3291840" cy="13716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95360" y="3429000"/>
            <a:ext cx="73152" cy="137160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3566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384048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12939"/>
                </a:solidFill>
                <a:latin typeface="Calibri"/>
              </a:rPr>
              <a:t>Typical gap between</a:t>
            </a:r>
          </a:p>
          <a:p>
            <a:pPr algn="l"/>
            <a:r>
              <a:rPr sz="1200" b="0" i="0">
                <a:solidFill>
                  <a:srgbClr val="212939"/>
                </a:solidFill>
                <a:latin typeface="Calibri"/>
              </a:rPr>
              <a:t>adjacent ranks: 1 – 2 positions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4983480"/>
            <a:ext cx="3291840" cy="1097280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507492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Conclusion: 50 splits suffice — results are not finite-sample artefacts.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ANNEX · ISA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39"/>
                </a:solidFill>
                <a:latin typeface="Calibri"/>
              </a:rPr>
              <a:t>Instance space — PCA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19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Calibri"/>
              </a:rPr>
              <a:t>KNNFairRank  ·  Machine Learning I  ·  CC2008</a:t>
            </a:r>
          </a:p>
        </p:txBody>
      </p:sp>
      <p:pic>
        <p:nvPicPr>
          <p:cNvPr id="6" name="Picture 5" descr="isa_pro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554480"/>
            <a:ext cx="592587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ANNEX · ISA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39"/>
                </a:solidFill>
                <a:latin typeface="Calibri"/>
              </a:rPr>
              <a:t>Algorithm footprints — where each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20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Calibri"/>
              </a:rPr>
              <a:t>KNNFairRank  ·  Machine Learning I  ·  CC2008</a:t>
            </a:r>
          </a:p>
        </p:txBody>
      </p:sp>
      <p:pic>
        <p:nvPicPr>
          <p:cNvPr id="6" name="Picture 5" descr="isa_footpri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11155680" cy="34857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ANNEX · ISA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39"/>
                </a:solidFill>
                <a:latin typeface="Calibri"/>
              </a:rPr>
              <a:t>Stress test along IR axis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21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Calibri"/>
              </a:rPr>
              <a:t>KNNFairRank  ·  Machine Learning I  ·  CC2008</a:t>
            </a:r>
          </a:p>
        </p:txBody>
      </p:sp>
      <p:pic>
        <p:nvPicPr>
          <p:cNvPr id="6" name="Picture 5" descr="isa_stress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11155680" cy="316545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ANNEX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39"/>
                </a:solidFill>
                <a:latin typeface="Calibri"/>
              </a:rPr>
              <a:t>Degenerate datasets  (N_min &lt; 20)  —  exploratory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22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Calibri"/>
              </a:rPr>
              <a:t>KNNFairRank  ·  Machine Learning I  ·  CC2008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5486400" cy="42976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73152" cy="4297680"/>
          </a:xfrm>
          <a:prstGeom prst="rect">
            <a:avLst/>
          </a:prstGeom>
          <a:solidFill>
            <a:srgbClr val="D98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8216"/>
                </a:solidFill>
                <a:latin typeface="Calibri"/>
              </a:rPr>
              <a:t>WHY SEPARATED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2120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12939"/>
                </a:solidFill>
                <a:latin typeface="Calibri"/>
              </a:rPr>
              <a:t>Stratified 10-fold CV with N_min &lt; 20 can produce test folds with</a:t>
            </a:r>
          </a:p>
          <a:p>
            <a:pPr algn="l"/>
            <a:r>
              <a:rPr sz="1300" b="0" i="0">
                <a:solidFill>
                  <a:srgbClr val="212939"/>
                </a:solidFill>
                <a:latin typeface="Calibri"/>
              </a:rPr>
              <a:t>zero positives  →  ROC-AUC and G-Mean undefined.</a:t>
            </a:r>
          </a:p>
          <a:p>
            <a:pPr algn="l"/>
            <a:r>
              <a:rPr sz="1300" b="0" i="0">
                <a:solidFill>
                  <a:srgbClr val="212939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212939"/>
                </a:solidFill>
                <a:latin typeface="Calibri"/>
              </a:rPr>
              <a:t>350 NaN rows in benchmark_5rep.csv (1.4%) — all confined</a:t>
            </a:r>
          </a:p>
          <a:p>
            <a:pPr algn="l"/>
            <a:r>
              <a:rPr sz="1300" b="0" i="0">
                <a:solidFill>
                  <a:srgbClr val="212939"/>
                </a:solidFill>
                <a:latin typeface="Calibri"/>
              </a:rPr>
              <a:t>to these 9 datasets; stripped before the main §7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D7A"/>
                </a:solidFill>
                <a:latin typeface="Calibri"/>
              </a:rPr>
              <a:t>9 datasets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00600"/>
            <a:ext cx="5212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analcatdata_challenger, kc1-top5, ar1, ar6,</a:t>
            </a:r>
          </a:p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analcatdata_lawsuit, analcatdata_neavote, analcatdata_chlamydia,</a:t>
            </a:r>
          </a:p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arsenic-female-lung, arsenic-male-lung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645920"/>
            <a:ext cx="5486400" cy="42976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645920"/>
            <a:ext cx="73152" cy="429768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783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KEY FINDING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Calibri"/>
              </a:rPr>
              <a:t>SMOTE collapses on 2 cases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0604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12939"/>
                </a:solidFill>
                <a:latin typeface="Calibri"/>
              </a:rPr>
              <a:t>Interpolating between 7-9 minority points produces synthetic</a:t>
            </a:r>
          </a:p>
          <a:p>
            <a:pPr algn="l"/>
            <a:r>
              <a:rPr sz="1300" b="0" i="0">
                <a:solidFill>
                  <a:srgbClr val="212939"/>
                </a:solidFill>
                <a:latin typeface="Calibri"/>
              </a:rPr>
              <a:t>samples outside the true minority region  →  classifier predicts</a:t>
            </a:r>
          </a:p>
          <a:p>
            <a:pPr algn="l"/>
            <a:r>
              <a:rPr sz="1300" b="0" i="0">
                <a:solidFill>
                  <a:srgbClr val="212939"/>
                </a:solidFill>
                <a:latin typeface="Calibri"/>
              </a:rPr>
              <a:t>majority for everything  →  G-Mean = 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4480560"/>
            <a:ext cx="5029200" cy="1325880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5720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3D7A"/>
                </a:solidFill>
                <a:latin typeface="Calibri"/>
              </a:rPr>
              <a:t>KNNFairRank stays well-defined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98348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212939"/>
                </a:solidFill>
                <a:latin typeface="Calibri"/>
              </a:rPr>
              <a:t>count-based correction does not rely on N_min magnitude.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ANNEX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39"/>
                </a:solidFill>
                <a:latin typeface="Calibri"/>
              </a:rPr>
              <a:t>k_maj_cap saturation — operational sanity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23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Calibri"/>
              </a:rPr>
              <a:t>KNNFairRank  ·  Machine Learning I  ·  CC2008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2011680"/>
            <a:ext cx="7589520" cy="228600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2194560"/>
            <a:ext cx="758952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0" b="1" i="0">
                <a:solidFill>
                  <a:srgbClr val="FFFFFF"/>
                </a:solidFill>
                <a:latin typeface="Calibri"/>
              </a:rPr>
              <a:t>1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566160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E7F0FA"/>
                </a:solidFill>
                <a:latin typeface="Calibri"/>
              </a:rPr>
              <a:t>datasets saturate the cap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931920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E7F0FA"/>
                </a:solidFill>
                <a:latin typeface="Calibri"/>
              </a:rPr>
              <a:t>dataset_1056_mc1   ·   IR = 138.2   ·   requested 1400   ·   capped at 1000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663440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212939"/>
                </a:solidFill>
                <a:latin typeface="Calibri"/>
              </a:rPr>
              <a:t>For the other 39 datasets, k_eff = r is exercised in full.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ANNEX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39"/>
                </a:solidFill>
                <a:latin typeface="Calibri"/>
              </a:rPr>
              <a:t>Wilcoxon ties — effective sample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24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Calibri"/>
              </a:rPr>
              <a:t>KNNFairRank  ·  Machine Learning I  ·  CC2008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286000"/>
            <a:ext cx="5760720" cy="182880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2423160"/>
            <a:ext cx="5760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N_eff  ∈  {38, 39}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10896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E7F0FA"/>
                </a:solidFill>
                <a:latin typeface="Calibri"/>
              </a:rPr>
              <a:t>out of 40 — across all (algorithm, metric, baseline) pairs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52044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E7F0FA"/>
                </a:solidFill>
                <a:latin typeface="Calibri"/>
              </a:rPr>
              <a:t>TopoJointBootstrap accounts for most ties (2 in G-Mean / MCC)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4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212939"/>
                </a:solidFill>
                <a:latin typeface="Calibri"/>
              </a:rPr>
              <a:t>Tie counts are tabulated explicitly in §8.3 of the notebook.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ANNEX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39"/>
                </a:solidFill>
                <a:latin typeface="Calibri"/>
              </a:rPr>
              <a:t>Computational complexity &amp;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25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Calibri"/>
              </a:rPr>
              <a:t>KNNFairRank  ·  Machine Learning I  ·  CC2008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155680" cy="393192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554480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Complexity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554480"/>
            <a:ext cx="3108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2680" y="1554480"/>
            <a:ext cx="16459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Time / 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47672"/>
            <a:ext cx="111556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47672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12939"/>
                </a:solidFill>
                <a:latin typeface="Calibri"/>
              </a:rPr>
              <a:t>KNNOptK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947672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O(F · k_grid · N²)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947672"/>
            <a:ext cx="3108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Inner CV over 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1947672"/>
            <a:ext cx="16459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  <a:latin typeface="Calibri"/>
              </a:rPr>
              <a:t>11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340864"/>
            <a:ext cx="11155680" cy="39319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40864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12939"/>
                </a:solidFill>
                <a:latin typeface="Calibri"/>
              </a:rPr>
              <a:t>KNNWeighted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340864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O(N²)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340864"/>
            <a:ext cx="3108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Just KNN at k =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2340864"/>
            <a:ext cx="16459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  <a:latin typeface="Calibri"/>
              </a:rPr>
              <a:t>1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734056"/>
            <a:ext cx="111556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734056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12939"/>
                </a:solidFill>
                <a:latin typeface="Calibri"/>
              </a:rPr>
              <a:t>SMOTE+KNN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2734056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O(N² + N_synth · k_neigh)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734056"/>
            <a:ext cx="3108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Oversample + KNN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2734056"/>
            <a:ext cx="16459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  <a:latin typeface="Calibri"/>
              </a:rPr>
              <a:t>1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127248"/>
            <a:ext cx="11155680" cy="39319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127248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12939"/>
                </a:solidFill>
                <a:latin typeface="Calibri"/>
              </a:rPr>
              <a:t>KNNFairRank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127248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O(N²)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3127248"/>
            <a:ext cx="3108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Closed-form k_eff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3127248"/>
            <a:ext cx="16459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  <a:latin typeface="Calibri"/>
              </a:rPr>
              <a:t>1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520440"/>
            <a:ext cx="111556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520440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12939"/>
                </a:solidFill>
                <a:latin typeface="Calibri"/>
              </a:rPr>
              <a:t>KNNFairRankCV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3520440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O(F · α · N²)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520440"/>
            <a:ext cx="3108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Inner CV over 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3520440"/>
            <a:ext cx="16459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  <a:latin typeface="Calibri"/>
              </a:rPr>
              <a:t>9 min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913632"/>
            <a:ext cx="11155680" cy="39319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913632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12939"/>
                </a:solidFill>
                <a:latin typeface="Calibri"/>
              </a:rPr>
              <a:t>KNNFairRankJointCV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3913632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O(F · α · n_votes · N²)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913632"/>
            <a:ext cx="3108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Joint (α, n_votes) CV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3913632"/>
            <a:ext cx="16459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  <a:latin typeface="Calibri"/>
              </a:rPr>
              <a:t>84 min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306824"/>
            <a:ext cx="111556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306824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12939"/>
                </a:solidFill>
                <a:latin typeface="Calibri"/>
              </a:rPr>
              <a:t>KNNFairRankEnsemble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4306824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O(α · n_votes · N²)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4306824"/>
            <a:ext cx="3108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Grid voting at inference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12680" y="4306824"/>
            <a:ext cx="16459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  <a:latin typeface="Calibri"/>
              </a:rPr>
              <a:t>1 min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700016"/>
            <a:ext cx="11155680" cy="39319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4700016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12939"/>
                </a:solidFill>
                <a:latin typeface="Calibri"/>
              </a:rPr>
              <a:t>KNNFairRankOptVotes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03320" y="4700016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O(F · n_votes · N²)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4700016"/>
            <a:ext cx="3108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Inner CV over n_votes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12680" y="4700016"/>
            <a:ext cx="16459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  <a:latin typeface="Calibri"/>
              </a:rPr>
              <a:t>30 min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5093208"/>
            <a:ext cx="111556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5093208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12939"/>
                </a:solidFill>
                <a:latin typeface="Calibri"/>
              </a:rPr>
              <a:t>KNNFairRankJackknife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03320" y="5093208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O(N · k_min · N)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03720" y="5093208"/>
            <a:ext cx="3108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LOO over minority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12680" y="5093208"/>
            <a:ext cx="16459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  <a:latin typeface="Calibri"/>
              </a:rPr>
              <a:t>2 min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5486400"/>
            <a:ext cx="11155680" cy="39319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5486400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12939"/>
                </a:solidFill>
                <a:latin typeface="Calibri"/>
              </a:rPr>
              <a:t>KNNFairRankTopoJB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03320" y="5486400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O(N · B · PH)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03720" y="5486400"/>
            <a:ext cx="3108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Bootstrap + topology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12680" y="5486400"/>
            <a:ext cx="16459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  <a:latin typeface="Calibri"/>
              </a:rPr>
              <a:t>5 min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6217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C757D"/>
                </a:solidFill>
                <a:latin typeface="Calibri"/>
              </a:rPr>
              <a:t>Total benchmark runtime  ≈  2.5 h on Apple M1 (16 GB)   ·   49 datasets × 10 algorithms × 50 splits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ANNEX · Candidate screening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39"/>
                </a:solidFill>
                <a:latin typeface="Calibri"/>
              </a:rPr>
              <a:t>Elimination rationale — 4 conceptual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26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Calibri"/>
              </a:rPr>
              <a:t>KNNFairRank  ·  Machine Learning I  ·  CC2008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11155680" cy="10515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1097280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109728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G1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12939"/>
                </a:solidFill>
                <a:latin typeface="Calibri"/>
              </a:rPr>
              <a:t>KNNAdaptive*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103120"/>
            <a:ext cx="6400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  <a:latin typeface="Calibri"/>
              </a:rPr>
              <a:t>Adapt the metric (entropy, eigen, topology, dual-anchor)</a:t>
            </a:r>
          </a:p>
          <a:p>
            <a:pPr algn="l"/>
            <a:r>
              <a:rPr sz="1000" b="0" i="0">
                <a:solidFill>
                  <a:srgbClr val="6C757D"/>
                </a:solidFill>
                <a:latin typeface="Calibri"/>
              </a:rPr>
              <a:t>instead of correcting the vote.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755648"/>
            <a:ext cx="3474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1">
                <a:solidFill>
                  <a:srgbClr val="003D7A"/>
                </a:solidFill>
                <a:latin typeface="Calibri"/>
              </a:rPr>
              <a:t>Ranks 24–27 — all BELOW KNNOptK.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43200"/>
            <a:ext cx="11155680" cy="10515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743200"/>
            <a:ext cx="1097280" cy="1051560"/>
          </a:xfrm>
          <a:prstGeom prst="rect">
            <a:avLst/>
          </a:prstGeom>
          <a:solidFill>
            <a:srgbClr val="D98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743200"/>
            <a:ext cx="109728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G2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8529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12939"/>
                </a:solidFill>
                <a:latin typeface="Calibri"/>
              </a:rPr>
              <a:t>Magnitude / LocalOdds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200400"/>
            <a:ext cx="6400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  <a:latin typeface="Calibri"/>
              </a:rPr>
              <a:t>Add a secondary distance-magnitude weight or re-estimate</a:t>
            </a:r>
          </a:p>
          <a:p>
            <a:pPr algn="l"/>
            <a:r>
              <a:rPr sz="1000" b="0" i="0">
                <a:solidFill>
                  <a:srgbClr val="6C757D"/>
                </a:solidFill>
                <a:latin typeface="Calibri"/>
              </a:rPr>
              <a:t>the imbalance ratio locally.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852928"/>
            <a:ext cx="3474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1">
                <a:solidFill>
                  <a:srgbClr val="003D7A"/>
                </a:solidFill>
                <a:latin typeface="Calibri"/>
              </a:rPr>
              <a:t>Redundant with α-CV in KNNFairRankCV.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40480"/>
            <a:ext cx="11155680" cy="10515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840480"/>
            <a:ext cx="1097280" cy="1051560"/>
          </a:xfrm>
          <a:prstGeom prst="rect">
            <a:avLst/>
          </a:prstGeom>
          <a:solidFill>
            <a:srgbClr val="D98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840480"/>
            <a:ext cx="109728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G3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9502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12939"/>
                </a:solidFill>
                <a:latin typeface="Calibri"/>
              </a:rPr>
              <a:t>Density / Bayesian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297680"/>
            <a:ext cx="6400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  <a:latin typeface="Calibri"/>
              </a:rPr>
              <a:t>Estimate local density or impose a prior on r;</a:t>
            </a:r>
          </a:p>
          <a:p>
            <a:pPr algn="l"/>
            <a:r>
              <a:rPr sz="1000" b="0" i="0">
                <a:solidFill>
                  <a:srgbClr val="6C757D"/>
                </a:solidFill>
                <a:latin typeface="Calibri"/>
              </a:rPr>
              <a:t>density estimation noisy in moderate-to-high dim.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950208"/>
            <a:ext cx="3474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1">
                <a:solidFill>
                  <a:srgbClr val="003D7A"/>
                </a:solidFill>
                <a:latin typeface="Calibri"/>
              </a:rPr>
              <a:t>All rank below KNNWeighted — noise &gt; signal.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937760"/>
            <a:ext cx="11155680" cy="10515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937760"/>
            <a:ext cx="1097280" cy="105156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937760"/>
            <a:ext cx="109728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G4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50474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12939"/>
                </a:solidFill>
                <a:latin typeface="Calibri"/>
              </a:rPr>
              <a:t>Topo / Ensemble redund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394960"/>
            <a:ext cx="6400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  <a:latin typeface="Calibri"/>
              </a:rPr>
              <a:t>TopoCount, TopoJoint, JackknifeEnsemble, LocalCount, LID:</a:t>
            </a:r>
          </a:p>
          <a:p>
            <a:pPr algn="l"/>
            <a:r>
              <a:rPr sz="1000" b="0" i="0">
                <a:solidFill>
                  <a:srgbClr val="6C757D"/>
                </a:solidFill>
                <a:latin typeface="Calibri"/>
              </a:rPr>
              <a:t>either dominated by TopoJointBootstrap or aggregate noise.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047488"/>
            <a:ext cx="3474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1">
                <a:solidFill>
                  <a:srgbClr val="003D7A"/>
                </a:solidFill>
                <a:latin typeface="Calibri"/>
              </a:rPr>
              <a:t>Strictly dominated on every dataset.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ANNEX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39"/>
                </a:solidFill>
                <a:latin typeface="Calibri"/>
              </a:rPr>
              <a:t>Cohen's d  —  effect sizes vs KNNOptK and SMOTE+KNN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27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Calibri"/>
              </a:rPr>
              <a:t>KNNFairRank  ·  Machine Learning I  ·  CC2008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2560320" cy="768096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256032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Algorithm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554480"/>
            <a:ext cx="4297680" cy="384048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554480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vs KNNOptK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60920" y="1554480"/>
            <a:ext cx="4297680" cy="38404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20" y="1554480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vs SMOTE+KNN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1938528"/>
            <a:ext cx="1432560" cy="384048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1938528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G-Mean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95800" y="1938528"/>
            <a:ext cx="1432560" cy="384048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5800" y="1938528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ROC-AUC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28360" y="1938528"/>
            <a:ext cx="1432560" cy="384048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28360" y="1938528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1938528"/>
            <a:ext cx="1432560" cy="38404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1938528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G-Mean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93480" y="1938528"/>
            <a:ext cx="1432560" cy="38404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93480" y="1938528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ROC-AUC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26040" y="1938528"/>
            <a:ext cx="1432560" cy="38404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6040" y="1938528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322576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322576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12939"/>
                </a:solidFill>
                <a:latin typeface="Calibri"/>
              </a:rPr>
              <a:t>JointCV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40" y="2322576"/>
            <a:ext cx="1432560" cy="384048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40" y="2322576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+0.88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95800" y="2322576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95800" y="2322576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+0.34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28360" y="2322576"/>
            <a:ext cx="1432560" cy="384048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28360" y="2322576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  <a:latin typeface="Calibri"/>
              </a:rPr>
              <a:t>+0.69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60920" y="2322576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60920" y="2322576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+0.30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93480" y="2322576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93480" y="2322576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+0.32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26040" y="2322576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26040" y="2322576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+0.21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2706624"/>
            <a:ext cx="2560320" cy="384048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2706624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12939"/>
                </a:solidFill>
                <a:latin typeface="Calibri"/>
              </a:rPr>
              <a:t>Ensemble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63240" y="2706624"/>
            <a:ext cx="1432560" cy="384048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63240" y="2706624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  <a:latin typeface="Calibri"/>
              </a:rPr>
              <a:t>+0.72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95800" y="2706624"/>
            <a:ext cx="1432560" cy="384048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95800" y="2706624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  <a:latin typeface="Calibri"/>
              </a:rPr>
              <a:t>+0.56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28360" y="2706624"/>
            <a:ext cx="1432560" cy="384048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28360" y="2706624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  <a:latin typeface="Calibri"/>
              </a:rPr>
              <a:t>+0.58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60920" y="2706624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60920" y="2706624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+0.18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93480" y="2706624"/>
            <a:ext cx="1432560" cy="384048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3480" y="2706624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  <a:latin typeface="Calibri"/>
              </a:rPr>
              <a:t>+0.56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226040" y="2706624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26040" y="2706624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+0.15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3090672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" y="3090672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12939"/>
                </a:solidFill>
                <a:latin typeface="Calibri"/>
              </a:rPr>
              <a:t>CV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63240" y="3090672"/>
            <a:ext cx="1432560" cy="384048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63240" y="3090672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+0.80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495800" y="3090672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95800" y="3090672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+0.32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28360" y="3090672"/>
            <a:ext cx="1432560" cy="384048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28360" y="3090672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  <a:latin typeface="Calibri"/>
              </a:rPr>
              <a:t>+0.65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60920" y="3090672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60920" y="3090672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793480" y="3090672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93480" y="3090672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+0.30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226040" y="3090672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226040" y="3090672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+0.19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3474720"/>
            <a:ext cx="2560320" cy="384048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5800" y="347472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12939"/>
                </a:solidFill>
                <a:latin typeface="Calibri"/>
              </a:rPr>
              <a:t>OptVotes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063240" y="3474720"/>
            <a:ext cx="1432560" cy="384048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063240" y="3474720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  <a:latin typeface="Calibri"/>
              </a:rPr>
              <a:t>+0.76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495800" y="3474720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95800" y="3474720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+0.30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28360" y="3474720"/>
            <a:ext cx="1432560" cy="384048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28360" y="3474720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  <a:latin typeface="Calibri"/>
              </a:rPr>
              <a:t>+0.62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60920" y="3474720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60920" y="3474720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+0.24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793480" y="3474720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793480" y="3474720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+0.27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226040" y="3474720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226040" y="3474720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+0.17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" y="3858768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85800" y="3858768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12939"/>
                </a:solidFill>
                <a:latin typeface="Calibri"/>
              </a:rPr>
              <a:t>FairRank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63240" y="3858768"/>
            <a:ext cx="1432560" cy="384048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63240" y="3858768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  <a:latin typeface="Calibri"/>
              </a:rPr>
              <a:t>+0.62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495800" y="3858768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495800" y="3858768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+0.27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928360" y="3858768"/>
            <a:ext cx="1432560" cy="384048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928360" y="3858768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  <a:latin typeface="Calibri"/>
              </a:rPr>
              <a:t>+0.54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360920" y="3858768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360920" y="3858768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+0.15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793480" y="3858768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793480" y="3858768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+0.24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226040" y="3858768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226040" y="3858768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+0.12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2920" y="4242816"/>
            <a:ext cx="2560320" cy="384048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5800" y="4242816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12939"/>
                </a:solidFill>
                <a:latin typeface="Calibri"/>
              </a:rPr>
              <a:t>Jackknife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63240" y="4242816"/>
            <a:ext cx="1432560" cy="384048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63240" y="4242816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  <a:latin typeface="Calibri"/>
              </a:rPr>
              <a:t>+0.61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495800" y="4242816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495800" y="4242816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+0.36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928360" y="4242816"/>
            <a:ext cx="1432560" cy="384048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928360" y="4242816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  <a:latin typeface="Calibri"/>
              </a:rPr>
              <a:t>+0.52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360920" y="4242816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360920" y="4242816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+0.13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793480" y="4242816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793480" y="4242816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+0.35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226040" y="4242816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26040" y="4242816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+0.11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02920" y="4626864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85800" y="4626864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12939"/>
                </a:solidFill>
                <a:latin typeface="Calibri"/>
              </a:rPr>
              <a:t>TopoJB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063240" y="4626864"/>
            <a:ext cx="1432560" cy="384048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063240" y="4626864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  <a:latin typeface="Calibri"/>
              </a:rPr>
              <a:t>+0.58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495800" y="4626864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495800" y="4626864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+0.28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928360" y="4626864"/>
            <a:ext cx="1432560" cy="384048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928360" y="4626864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  <a:latin typeface="Calibri"/>
              </a:rPr>
              <a:t>+0.50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360920" y="4626864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360920" y="4626864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+0.12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793480" y="4626864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793480" y="4626864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+0.26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226040" y="4626864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226040" y="4626864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+0.10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02920" y="5010912"/>
            <a:ext cx="2560320" cy="384048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85800" y="5010912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12939"/>
                </a:solidFill>
                <a:latin typeface="Calibri"/>
              </a:rPr>
              <a:t>KNNWeighted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063240" y="5010912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063240" y="5010912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+0.12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495800" y="5010912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495800" y="5010912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-0.20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928360" y="5010912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928360" y="5010912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+0.05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360920" y="5010912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360920" y="5010912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-0.45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793480" y="5010912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793480" y="5010912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-0.30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226040" y="5010912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226040" y="5010912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-0.40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02920" y="5394960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85800" y="539496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12939"/>
                </a:solidFill>
                <a:latin typeface="Calibri"/>
              </a:rPr>
              <a:t>SMOTE+KNN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063240" y="5394960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063240" y="5394960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+0.45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495800" y="5394960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495800" y="5394960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+0.05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928360" y="5394960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928360" y="5394960"/>
            <a:ext cx="143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12939"/>
                </a:solidFill>
                <a:latin typeface="Calibri"/>
              </a:rPr>
              <a:t>+0.27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360920" y="5394960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793480" y="5394960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0226040" y="5394960"/>
            <a:ext cx="1432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3657600" y="6172200"/>
            <a:ext cx="365760" cy="22860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114800" y="61722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|d| ≥ 0.8 large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943600" y="6172200"/>
            <a:ext cx="365760" cy="228600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400800" y="61722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12939"/>
                </a:solidFill>
                <a:latin typeface="Calibri"/>
              </a:rPr>
              <a:t>|d| ≥ 0.5 medium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ANNEX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39"/>
                </a:solidFill>
                <a:latin typeface="Calibri"/>
              </a:rPr>
              <a:t>Notebook navigator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28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Calibri"/>
              </a:rPr>
              <a:t>KNNFairRank  ·  Machine Learning I  ·  CC2008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11155680" cy="5029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73152" cy="50292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03D7A"/>
                </a:solidFill>
                <a:latin typeface="Calibri"/>
              </a:rPr>
              <a:t>entrega_final.ipynb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645920"/>
            <a:ext cx="6766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12939"/>
                </a:solidFill>
                <a:latin typeface="Calibri"/>
              </a:rPr>
              <a:t>★ Main deliverable — full pipeline + theory +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40280"/>
            <a:ext cx="11155680" cy="5029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240280"/>
            <a:ext cx="73152" cy="50292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03D7A"/>
                </a:solidFill>
                <a:latin typeface="Calibri"/>
              </a:rPr>
              <a:t>meta_analysis.ipynb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2240280"/>
            <a:ext cx="6766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12939"/>
                </a:solidFill>
                <a:latin typeface="Calibri"/>
              </a:rPr>
              <a:t>ISA + LODO-CV + stress test + Kendall trend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34640"/>
            <a:ext cx="11155680" cy="5029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834640"/>
            <a:ext cx="73152" cy="50292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3464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03D7A"/>
                </a:solidFill>
                <a:latin typeface="Calibri"/>
              </a:rPr>
              <a:t>phase2_benchmark.ipynb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834640"/>
            <a:ext cx="6766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12939"/>
                </a:solidFill>
                <a:latin typeface="Calibri"/>
              </a:rPr>
              <a:t>Benchmark execution → benchmark_5rep.csv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29000"/>
            <a:ext cx="11155680" cy="5029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429000"/>
            <a:ext cx="73152" cy="50292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42900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03D7A"/>
                </a:solidFill>
                <a:latin typeface="Calibri"/>
              </a:rPr>
              <a:t>phase1_baseline.ipynb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3429000"/>
            <a:ext cx="6766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12939"/>
                </a:solidFill>
                <a:latin typeface="Calibri"/>
              </a:rPr>
              <a:t>Phase 1 baseline analysis (KNNOptK)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23360"/>
            <a:ext cx="11155680" cy="5029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023360"/>
            <a:ext cx="73152" cy="50292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02336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03D7A"/>
                </a:solidFill>
                <a:latin typeface="Calibri"/>
              </a:rPr>
              <a:t>algorithm_documentation.ipynb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023360"/>
            <a:ext cx="6766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12939"/>
                </a:solidFill>
                <a:latin typeface="Calibri"/>
              </a:rPr>
              <a:t>Per-algorithm technical reference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617720"/>
            <a:ext cx="11155680" cy="5029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617720"/>
            <a:ext cx="73152" cy="50292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61772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03D7A"/>
                </a:solidFill>
                <a:latin typeface="Calibri"/>
              </a:rPr>
              <a:t>algorithm_design.ipynb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4617720"/>
            <a:ext cx="6766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12939"/>
                </a:solidFill>
                <a:latin typeface="Calibri"/>
              </a:rPr>
              <a:t>Development narrative (legacy)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212080"/>
            <a:ext cx="11155680" cy="5029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212080"/>
            <a:ext cx="73152" cy="50292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21208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03D7A"/>
                </a:solidFill>
                <a:latin typeface="Calibri"/>
              </a:rPr>
              <a:t>algorithm_reference.ipynb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5212080"/>
            <a:ext cx="6766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12939"/>
                </a:solidFill>
                <a:latin typeface="Calibri"/>
              </a:rPr>
              <a:t>Earlier reference (legacy)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  <a:latin typeface="Calibri"/>
              </a:rPr>
              <a:t>ANNEX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39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29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Calibri"/>
              </a:rPr>
              <a:t>KNNFairRank  ·  Machine Learning I  ·  CC2008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11155680" cy="8229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73152" cy="82296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3D7A"/>
                </a:solidFill>
                <a:latin typeface="Calibri"/>
              </a:rPr>
              <a:t>Demšar, J. (2006).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212939"/>
                </a:solidFill>
                <a:latin typeface="Calibri"/>
              </a:rPr>
              <a:t>Statistical comparisons of classifiers over multiple data sets.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JMLR 7, 1–30.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06040"/>
            <a:ext cx="11155680" cy="8229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606040"/>
            <a:ext cx="73152" cy="82296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97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3D7A"/>
                </a:solidFill>
                <a:latin typeface="Calibri"/>
              </a:rPr>
              <a:t>Smith-Miles, K. &amp; Muñoz, M.A. (2023).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71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212939"/>
                </a:solidFill>
                <a:latin typeface="Calibri"/>
              </a:rPr>
              <a:t>Instance Space Analysis: A toolkit for the assessment of algorithmic power.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2004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ACM Computing Surveys 55(12).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20440"/>
            <a:ext cx="11155680" cy="8229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520440"/>
            <a:ext cx="73152" cy="82296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118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3D7A"/>
                </a:solidFill>
                <a:latin typeface="Calibri"/>
              </a:rPr>
              <a:t>Hastie, T. &amp; Tibshirani, R. (1996).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862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212939"/>
                </a:solidFill>
                <a:latin typeface="Calibri"/>
              </a:rPr>
              <a:t>Discriminant adaptive nearest-neighbor classification.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14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IEEE TPAMI 18(6), 607–616.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434840"/>
            <a:ext cx="11155680" cy="8229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434840"/>
            <a:ext cx="73152" cy="82296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5262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3D7A"/>
                </a:solidFill>
                <a:latin typeface="Calibri"/>
              </a:rPr>
              <a:t>Chawla, N.V. et al. (2002).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8006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212939"/>
                </a:solidFill>
                <a:latin typeface="Calibri"/>
              </a:rPr>
              <a:t>SMOTE: Synthetic Minority Over-sampling Technique.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292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JAIR 16, 321–357.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349240"/>
            <a:ext cx="11155680" cy="8229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349240"/>
            <a:ext cx="73152" cy="82296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4406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3D7A"/>
                </a:solidFill>
                <a:latin typeface="Calibri"/>
              </a:rPr>
              <a:t>rushter / MLAlgorithms.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150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212939"/>
                </a:solidFill>
                <a:latin typeface="Calibri"/>
              </a:rPr>
              <a:t>Base KNN loop adapted with sklearn-compatible interface.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436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github.com/rushter/MLAlgorithms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80076" y="2560320"/>
            <a:ext cx="1828800" cy="7315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697480"/>
            <a:ext cx="121916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Calibri"/>
              </a:rPr>
              <a:t>Obrigado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06908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 i="1">
                <a:solidFill>
                  <a:srgbClr val="E7F0FA"/>
                </a:solidFill>
                <a:latin typeface="Calibri"/>
              </a:rPr>
              <a:t>Questions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E7F0FA"/>
                </a:solidFill>
                <a:latin typeface="Calibri"/>
              </a:rPr>
              <a:t>Duarte Gomes  ·  José Sousa  ·  Tiago Sousa     |     Group 2  ·  CC2008  ·  2025/2026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