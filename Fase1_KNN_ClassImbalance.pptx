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Balanced Accuracy</c:v>
                </c:pt>
              </c:strCache>
            </c:strRef>
          </c:tx>
          <c:spPr>
            <a:solidFill>
              <a:srgbClr val="4A907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A90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361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E293B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sklearn_distance</c:v>
                </c:pt>
                <c:pt idx="1">
                  <c:v>sklearn_uniform</c:v>
                </c:pt>
                <c:pt idx="2">
                  <c:v>knn_scratch</c:v>
                </c:pt>
                <c:pt idx="3">
                  <c:v>knn_adaptive_v1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0.7473</c:v>
                </c:pt>
                <c:pt idx="1">
                  <c:v>0.7468</c:v>
                </c:pt>
                <c:pt idx="2">
                  <c:v>0.7466</c:v>
                </c:pt>
                <c:pt idx="3">
                  <c:v>0.7161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1A1A2E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65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C6B8A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2ef1563-6c48-4d18-90a9-61c6e7a33a44}"/>
      </c:ext>
    </c:extLst>
  </c:chart>
  <c:spPr>
    <a:solidFill>
      <a:srgbClr val="F4F6FB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4361EE">
              <a:alpha val="12000"/>
            </a:srgbClr>
          </a:solidFill>
          <a:ln w="12700">
            <a:solidFill>
              <a:srgbClr val="4361EE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743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31152" y="2743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78624" y="2743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6096" y="2743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2743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2743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621792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31152" y="621792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78624" y="621792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6096" y="621792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3568" y="621792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621792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969264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31152" y="969264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78624" y="969264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26096" y="969264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73568" y="969264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969264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56032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  (CC2008)  ·  2025/2026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" y="9601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85800" y="178308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Class Imbalance</a:t>
            </a:r>
            <a:endParaRPr lang="en-US" sz="3800" dirty="0"/>
          </a:p>
        </p:txBody>
      </p:sp>
      <p:sp>
        <p:nvSpPr>
          <p:cNvPr id="25" name="Shape 23"/>
          <p:cNvSpPr/>
          <p:nvPr/>
        </p:nvSpPr>
        <p:spPr>
          <a:xfrm>
            <a:off x="685800" y="2697480"/>
            <a:ext cx="4572000" cy="411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83464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 —  Avaliação Empírica do Algoritmo Base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" y="42976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Executivo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1097280"/>
            <a:ext cx="2743200" cy="338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97280"/>
            <a:ext cx="2743200" cy="82296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1298448"/>
            <a:ext cx="731520" cy="731520"/>
          </a:xfrm>
          <a:prstGeom prst="ellipse">
            <a:avLst/>
          </a:prstGeom>
          <a:solidFill>
            <a:srgbClr val="4361EE">
              <a:alpha val="15000"/>
            </a:srgbClr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1298448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241401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241401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62656"/>
            <a:ext cx="241401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 from scratch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46704"/>
            <a:ext cx="241401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Python / NumPy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18688" y="1097280"/>
            <a:ext cx="2743200" cy="338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097280"/>
            <a:ext cx="2743200" cy="8229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24528" y="1298448"/>
            <a:ext cx="731520" cy="731520"/>
          </a:xfrm>
          <a:prstGeom prst="ellipse">
            <a:avLst/>
          </a:prstGeom>
          <a:solidFill>
            <a:srgbClr val="E94560">
              <a:alpha val="1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1298448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83280" y="2176272"/>
            <a:ext cx="241401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Escolhido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578608"/>
            <a:ext cx="241401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2962656"/>
            <a:ext cx="241401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 do enunciado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346704"/>
            <a:ext cx="241401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datasets reais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44768" y="1097280"/>
            <a:ext cx="2743200" cy="338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44768" y="1097280"/>
            <a:ext cx="2743200" cy="822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50608" y="1298448"/>
            <a:ext cx="731520" cy="731520"/>
          </a:xfrm>
          <a:prstGeom prst="ellipse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1298448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09360" y="2176272"/>
            <a:ext cx="241401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Central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2578608"/>
            <a:ext cx="241401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fixo global prejudica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2962656"/>
            <a:ext cx="241401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minoritária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346704"/>
            <a:ext cx="241401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regiões de fronteira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2608" y="4663440"/>
            <a:ext cx="8558784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principal: balanced_accuracy média — KNN Scratch 0.747  |  KNN Adaptativo 0.716  →  motivação clara para Fase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Algoritmo: K-Nearest Neighbors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e por que é sensível ao desequilíbrio de classes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530352" cy="530352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9728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1155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distâncias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408176"/>
            <a:ext cx="4114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euclidiana entre o ponto de teste e todos os pontos de treino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6032" y="2331720"/>
            <a:ext cx="530352" cy="530352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33172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vizinhos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642616"/>
            <a:ext cx="4114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por distância e manter os k mais próximos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6032" y="3566160"/>
            <a:ext cx="530352" cy="530352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356616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358444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Votação por maioria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877056"/>
            <a:ext cx="4114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com mais votos entre os k vizinhos é a previsão final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0" y="1005840"/>
            <a:ext cx="3383280" cy="384048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0972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Vizinhança local (k=5)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645920"/>
            <a:ext cx="201168" cy="201168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1828800"/>
            <a:ext cx="201168" cy="201168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0" y="1691640"/>
            <a:ext cx="201168" cy="201168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2103120"/>
            <a:ext cx="201168" cy="201168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2286000"/>
            <a:ext cx="201168" cy="201168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84975" y="2571750"/>
            <a:ext cx="201168" cy="201168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13905" y="2861945"/>
            <a:ext cx="201168" cy="201168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2926080"/>
            <a:ext cx="201168" cy="201168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3200400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69480" y="2487295"/>
            <a:ext cx="201168" cy="201168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65265" y="2919730"/>
            <a:ext cx="292608" cy="29260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D474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265" y="291846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0" y="4251960"/>
            <a:ext cx="164592" cy="164592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4187952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maioritária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0" y="4251960"/>
            <a:ext cx="164592" cy="16459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43800" y="4187952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minoritária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k Fixo com Class Imbalance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KNN standard falha em datasets desbalanceados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8631936" cy="777240"/>
          </a:xfrm>
          <a:prstGeom prst="rect">
            <a:avLst/>
          </a:prstGeom>
          <a:solidFill>
            <a:srgbClr val="FFF0F3"/>
          </a:solidFill>
          <a:ln w="15240">
            <a:solidFill>
              <a:srgbClr val="FFBC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classe minoritária tiver N elementos e escolhermos k ≥ </a:t>
            </a:r>
            <a:r>
              <a:rPr lang="pt-BR" altLang="en-US" sz="1300" dirty="0">
                <a:solidFill>
                  <a:srgbClr val="9B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9B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 ela nunca consegue ganhar a votação — mesmo que todos os seus pontos sejam vizinhos do ponto de teste.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2011680"/>
            <a:ext cx="274320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011680"/>
            <a:ext cx="2743200" cy="640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194560"/>
            <a:ext cx="24140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grande demais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" y="2670048"/>
            <a:ext cx="2414016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k &gt; N_minoritária, a classe rara</a:t>
            </a:r>
            <a:r>
              <a:rPr lang="pt-BR" alt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mente</a:t>
            </a: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vence. Exemplo: </a:t>
            </a:r>
            <a:r>
              <a:rPr lang="pt-BR" alt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amostras na classe </a:t>
            </a:r>
            <a:r>
              <a:rPr lang="pt-BR" alt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minoritária</a:t>
            </a: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k=</a:t>
            </a:r>
            <a:r>
              <a:rPr lang="pt-BR" alt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já a condena à derrota garantida.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82112" y="2011680"/>
            <a:ext cx="274320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2011680"/>
            <a:ext cx="27432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2194560"/>
            <a:ext cx="24140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fixo ignora geometria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46704" y="2670048"/>
            <a:ext cx="2414016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densas e homogéneas precisam de k grande (estável). Zonas de fronteira precisam de k pequeno (sensível à classe rara).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08192" y="2011680"/>
            <a:ext cx="274320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8192" y="2011680"/>
            <a:ext cx="2743200" cy="6400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2194560"/>
            <a:ext cx="24140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engana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72784" y="2670048"/>
            <a:ext cx="2414016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90/10 de desbalanceamento, um modelo que prevê sempre a classe maioritária atinge 90% de accuracy — mas balanced_accuracy é 50%.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6032" y="4709160"/>
            <a:ext cx="863193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nossos datasets: imbalance ratio de  4.1x  a  138.2x  (média ≈ 13x)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Experimental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da avaliação empírica da Fase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201168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188720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56032" y="18288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" y="208483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Benchmark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50592" y="1078992"/>
            <a:ext cx="201168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1188720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50592" y="18288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Excluído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50592" y="208483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hiva_agnostic (1618 features)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45152" y="1078992"/>
            <a:ext cx="201168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45152" y="1188720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645152" y="18288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45152" y="208483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comparados por dataset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39712" y="1078992"/>
            <a:ext cx="201168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39712" y="1188720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75/25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839712" y="18288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39712" y="208483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/ teste (estratificado)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6032" y="2578608"/>
            <a:ext cx="863193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Avaliados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56032" y="2971800"/>
            <a:ext cx="8631936" cy="438912"/>
          </a:xfrm>
          <a:prstGeom prst="rect">
            <a:avLst/>
          </a:prstGeom>
          <a:solidFill>
            <a:srgbClr val="F4F6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2971800"/>
            <a:ext cx="54864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35808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knn_from_scratch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834640" y="303580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implementado do zero (NumPy)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0" y="3035808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fixo, votação por maioria simples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3447288"/>
            <a:ext cx="8631936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3447288"/>
            <a:ext cx="54864" cy="43891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511296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sklearn_uniform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834640" y="351129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KNeighborsClassifier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0" y="3511296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k=5, pesos uniformes  — baseline de referência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" y="3922776"/>
            <a:ext cx="8631936" cy="438912"/>
          </a:xfrm>
          <a:prstGeom prst="rect">
            <a:avLst/>
          </a:prstGeom>
          <a:solidFill>
            <a:srgbClr val="F4F6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" y="3922776"/>
            <a:ext cx="54864" cy="438912"/>
          </a:xfrm>
          <a:prstGeom prst="rect">
            <a:avLst/>
          </a:prstGeom>
          <a:solidFill>
            <a:srgbClr val="4A9079"/>
          </a:solidFill>
          <a:ln w="12700">
            <a:solidFill>
              <a:srgbClr val="4A907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986784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0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sklearn_distance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834640" y="3986784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KNeighborsClassifier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0" y="3986784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k=5, pesos por distância inversa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" y="4398264"/>
            <a:ext cx="8631936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4398264"/>
            <a:ext cx="54864" cy="43891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462272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knn_adaptive_v1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834640" y="446227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AdaptiveKNN (nossa proposta)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669280" y="446227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k* adaptativo por estabilidade de entropia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6032" y="4846320"/>
            <a:ext cx="86319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balanced_accuracy  ·  f1_macro  ·  f1_weighted  ·  accuracy  (StandardScaler aplicado em todos)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Balanced Accuracy Média (49 datasets)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principal — penaliza igualmente os erros em ambas as classes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56032" y="100584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051560"/>
            <a:ext cx="310896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1252728"/>
            <a:ext cx="502920" cy="502920"/>
          </a:xfrm>
          <a:prstGeom prst="ellipse">
            <a:avLst/>
          </a:prstGeom>
          <a:solidFill>
            <a:srgbClr val="4361EE">
              <a:alpha val="15000"/>
            </a:srgbClr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89320" y="125272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601968" y="1161288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scratch ≈ sklearn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01968" y="1481328"/>
            <a:ext cx="21762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baselines têm performance quase idêntica, validando a implementação from scratch.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806440" y="2377440"/>
            <a:ext cx="310896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89320" y="2578608"/>
            <a:ext cx="502920" cy="502920"/>
          </a:xfrm>
          <a:prstGeom prst="ellipse">
            <a:avLst/>
          </a:prstGeom>
          <a:solidFill>
            <a:srgbClr val="E94560">
              <a:alpha val="1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5786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601968" y="2487168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AdaptiveKNN fica abaixo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01968" y="2807208"/>
            <a:ext cx="21762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−0.031 balanced_accuracy vs scratch. Entropia sozinha não é critério suficiente.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806440" y="3703320"/>
            <a:ext cx="310896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89320" y="3904488"/>
            <a:ext cx="502920" cy="502920"/>
          </a:xfrm>
          <a:prstGeom prst="ellipse">
            <a:avLst/>
          </a:prstGeom>
          <a:solidFill>
            <a:srgbClr val="06D6A0">
              <a:alpha val="1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39044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601968" y="3813048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em 4 datasets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601968" y="4133088"/>
            <a:ext cx="21762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de até +0.10 em datasets com estrutura local bem definida.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Análise: AdaptiveKNN vs KNN Standard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k adaptativo ajuda — e onde falha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82880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182880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16152"/>
            <a:ext cx="18288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5760" y="1947672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5877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1078992"/>
            <a:ext cx="182880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0" y="1078992"/>
            <a:ext cx="1828800" cy="73152"/>
          </a:xfrm>
          <a:prstGeom prst="rect">
            <a:avLst/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216152"/>
            <a:ext cx="18288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377440" y="1947672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empate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5877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078992"/>
            <a:ext cx="182880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078992"/>
            <a:ext cx="18288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216152"/>
            <a:ext cx="18288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389120" y="1947672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0" y="25877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10515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destaque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1463040"/>
            <a:ext cx="2560320" cy="420624"/>
          </a:xfrm>
          <a:prstGeom prst="rect">
            <a:avLst/>
          </a:prstGeom>
          <a:solidFill>
            <a:srgbClr val="F4F6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527048"/>
            <a:ext cx="274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93408" y="1527048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analcatdata_lawsuit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21040" y="1527048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1938528"/>
            <a:ext cx="256032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002536"/>
            <a:ext cx="274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93408" y="2002536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analcatdata_apnea2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21040" y="2002536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2414016"/>
            <a:ext cx="2560320" cy="420624"/>
          </a:xfrm>
          <a:prstGeom prst="rect">
            <a:avLst/>
          </a:prstGeom>
          <a:solidFill>
            <a:srgbClr val="F4F6FB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478024"/>
            <a:ext cx="274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93408" y="2478024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21040" y="2478024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−0.37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2889504"/>
            <a:ext cx="256032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953512"/>
            <a:ext cx="274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93408" y="295351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spectrometer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21040" y="295351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−0.17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6032" y="3127248"/>
            <a:ext cx="5760720" cy="1874520"/>
          </a:xfrm>
          <a:prstGeom prst="rect">
            <a:avLst/>
          </a:prstGeom>
          <a:solidFill>
            <a:srgbClr val="FFF8F0"/>
          </a:solidFill>
          <a:ln w="15240">
            <a:solidFill>
              <a:srgbClr val="FDC07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218688"/>
            <a:ext cx="53583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por que o critério de entropia sozinha falha?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3584448"/>
            <a:ext cx="5358384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Entropia mínima não distingue </a:t>
            </a: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 real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heterogeneidade intra-classe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Tende a escolher k* pequeno em excesso — instabilidade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Solução: combinar entropia com proporção da classe minoritária + geometria local (eigenvalues)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4361EE">
              <a:alpha val="12000"/>
            </a:srgbClr>
          </a:solidFill>
          <a:ln w="12700">
            <a:solidFill>
              <a:srgbClr val="4361EE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 &amp; Próximos Passos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 na Fase 1 e como nos guia para a Fase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207008"/>
            <a:ext cx="4572000" cy="411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 da Fase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801368"/>
            <a:ext cx="219456" cy="21945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764792"/>
            <a:ext cx="3886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standard é insensível ao desequilíbrio — k fixo não adapta a geometria local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2441448"/>
            <a:ext cx="219456" cy="21945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404872"/>
            <a:ext cx="3886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 e F1 macro são as métricas corretas — accuracy sozinha ilude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" y="3081528"/>
            <a:ext cx="219456" cy="21945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044952"/>
            <a:ext cx="3886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fixo pequeno (k=5) e grande dão resultados equivalentes nos datasets testados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" y="3721608"/>
            <a:ext cx="219456" cy="21945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3685032"/>
            <a:ext cx="3886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entropia sozinho é insuficiente — melhora em apenas 8% dos datasets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66360" y="1294130"/>
            <a:ext cx="3749040" cy="3657600"/>
          </a:xfrm>
          <a:prstGeom prst="rect">
            <a:avLst/>
          </a:prstGeom>
          <a:solidFill>
            <a:srgbClr val="182338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146304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Proposta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49240" y="1938528"/>
            <a:ext cx="347472" cy="34747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193852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79008" y="1956816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Entropia + Proporção Minoritária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79008" y="2249424"/>
            <a:ext cx="2971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estabilidade de entropia com presença da classe rara na vizinhança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49240" y="2834640"/>
            <a:ext cx="347472" cy="34747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28346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79008" y="2852928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Eigenvalues (Geometria Local)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79008" y="3145536"/>
            <a:ext cx="2971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 estrutura da covariância para distinguir fronteiras de zonas homogéneas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49240" y="3730752"/>
            <a:ext cx="347472" cy="34747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373075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79008" y="374904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DANN com k Dinâmico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79008" y="4041648"/>
            <a:ext cx="2971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elíptica + k adaptativo — versão mais completa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4011</Words>
  <Application>WPS Presentation</Application>
  <PresentationFormat>On-screen Show (16:9)</PresentationFormat>
  <Paragraphs>264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Consolas</vt:lpstr>
      <vt:lpstr>Consolas</vt:lpstr>
      <vt:lpstr>Consolas</vt:lpstr>
      <vt:lpstr>Arial</vt:lpstr>
      <vt:lpstr>Microsoft YaHei</vt:lpstr>
      <vt:lpstr>汉仪旗黑</vt:lpstr>
      <vt:lpstr>Arial Unicode MS</vt:lpstr>
      <vt:lpstr>苹方-简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KNN com Class Imbalance - Fase 1</dc:title>
  <dc:creator>PptxGenJS</dc:creator>
  <dc:subject>PptxGenJS Presentation</dc:subject>
  <cp:lastModifiedBy>DuarteGomes</cp:lastModifiedBy>
  <cp:revision>2</cp:revision>
  <dcterms:created xsi:type="dcterms:W3CDTF">2026-04-16T14:23:46Z</dcterms:created>
  <dcterms:modified xsi:type="dcterms:W3CDTF">2026-04-16T14:23:46Z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1033-12.1.25867.25867</vt:lpwstr>
  </property>
  <property fmtid="{D5CDD505-2E9C-101B-9397-08002B2CF9AE}" pid="3" name="ICV">
    <vt:lpwstr>75FA1660DB03C9A3F2F0E069216BCD7D_42</vt:lpwstr>
  </property>
</Properties>
</file>